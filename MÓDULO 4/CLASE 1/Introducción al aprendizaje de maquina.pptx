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8" r:id="rId19"/>
    <p:sldId id="273" r:id="rId20"/>
    <p:sldId id="274" r:id="rId21"/>
    <p:sldId id="275" r:id="rId22"/>
    <p:sldId id="276" r:id="rId23"/>
    <p:sldId id="277" r:id="rId24"/>
    <p:sldId id="279" r:id="rId25"/>
    <p:sldId id="280" r:id="rId26"/>
    <p:sldId id="281" r:id="rId27"/>
    <p:sldId id="282" r:id="rId28"/>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ＭＳ Ｐゴシック" charset="0"/>
        <a:cs typeface="+mn-cs"/>
      </a:defRPr>
    </a:lvl1pPr>
    <a:lvl2pPr marL="457200" algn="l" rtl="0" fontAlgn="base">
      <a:spcBef>
        <a:spcPct val="0"/>
      </a:spcBef>
      <a:spcAft>
        <a:spcPct val="0"/>
      </a:spcAft>
      <a:defRPr kern="1200">
        <a:solidFill>
          <a:schemeClr val="tx1"/>
        </a:solidFill>
        <a:latin typeface="Arial" charset="0"/>
        <a:ea typeface="ＭＳ Ｐゴシック" charset="0"/>
        <a:cs typeface="+mn-cs"/>
      </a:defRPr>
    </a:lvl2pPr>
    <a:lvl3pPr marL="914400" algn="l" rtl="0" fontAlgn="base">
      <a:spcBef>
        <a:spcPct val="0"/>
      </a:spcBef>
      <a:spcAft>
        <a:spcPct val="0"/>
      </a:spcAft>
      <a:defRPr kern="1200">
        <a:solidFill>
          <a:schemeClr val="tx1"/>
        </a:solidFill>
        <a:latin typeface="Arial" charset="0"/>
        <a:ea typeface="ＭＳ Ｐゴシック" charset="0"/>
        <a:cs typeface="+mn-cs"/>
      </a:defRPr>
    </a:lvl3pPr>
    <a:lvl4pPr marL="1371600" algn="l" rtl="0" fontAlgn="base">
      <a:spcBef>
        <a:spcPct val="0"/>
      </a:spcBef>
      <a:spcAft>
        <a:spcPct val="0"/>
      </a:spcAft>
      <a:defRPr kern="1200">
        <a:solidFill>
          <a:schemeClr val="tx1"/>
        </a:solidFill>
        <a:latin typeface="Arial" charset="0"/>
        <a:ea typeface="ＭＳ Ｐゴシック" charset="0"/>
        <a:cs typeface="+mn-cs"/>
      </a:defRPr>
    </a:lvl4pPr>
    <a:lvl5pPr marL="1828800" algn="l" rtl="0" fontAlgn="base">
      <a:spcBef>
        <a:spcPct val="0"/>
      </a:spcBef>
      <a:spcAft>
        <a:spcPct val="0"/>
      </a:spcAft>
      <a:defRPr kern="1200">
        <a:solidFill>
          <a:schemeClr val="tx1"/>
        </a:solidFill>
        <a:latin typeface="Arial" charset="0"/>
        <a:ea typeface="ＭＳ Ｐゴシック" charset="0"/>
        <a:cs typeface="+mn-cs"/>
      </a:defRPr>
    </a:lvl5pPr>
    <a:lvl6pPr marL="2286000" algn="l" defTabSz="457200" rtl="0" eaLnBrk="1" latinLnBrk="0" hangingPunct="1">
      <a:defRPr kern="1200">
        <a:solidFill>
          <a:schemeClr val="tx1"/>
        </a:solidFill>
        <a:latin typeface="Arial" charset="0"/>
        <a:ea typeface="ＭＳ Ｐゴシック" charset="0"/>
        <a:cs typeface="+mn-cs"/>
      </a:defRPr>
    </a:lvl6pPr>
    <a:lvl7pPr marL="2743200" algn="l" defTabSz="457200" rtl="0" eaLnBrk="1" latinLnBrk="0" hangingPunct="1">
      <a:defRPr kern="1200">
        <a:solidFill>
          <a:schemeClr val="tx1"/>
        </a:solidFill>
        <a:latin typeface="Arial" charset="0"/>
        <a:ea typeface="ＭＳ Ｐゴシック" charset="0"/>
        <a:cs typeface="+mn-cs"/>
      </a:defRPr>
    </a:lvl7pPr>
    <a:lvl8pPr marL="3200400" algn="l" defTabSz="457200" rtl="0" eaLnBrk="1" latinLnBrk="0" hangingPunct="1">
      <a:defRPr kern="1200">
        <a:solidFill>
          <a:schemeClr val="tx1"/>
        </a:solidFill>
        <a:latin typeface="Arial" charset="0"/>
        <a:ea typeface="ＭＳ Ｐゴシック" charset="0"/>
        <a:cs typeface="+mn-cs"/>
      </a:defRPr>
    </a:lvl8pPr>
    <a:lvl9pPr marL="3657600" algn="l" defTabSz="457200" rtl="0" eaLnBrk="1" latinLnBrk="0" hangingPunct="1">
      <a:defRPr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6E49"/>
    <a:srgbClr val="01574A"/>
    <a:srgbClr val="BC7916"/>
    <a:srgbClr val="286CBE"/>
    <a:srgbClr val="E38C35"/>
    <a:srgbClr val="E0D1A8"/>
    <a:srgbClr val="DDB7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398" y="2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Alejandro Chavez Molotla" userId="5d3b0a4a2086520f" providerId="LiveId" clId="{19B292A9-7D84-4F3C-9E6F-73776E5FF97A}"/>
    <pc:docChg chg="modSld">
      <pc:chgData name="Sergio Alejandro Chavez Molotla" userId="5d3b0a4a2086520f" providerId="LiveId" clId="{19B292A9-7D84-4F3C-9E6F-73776E5FF97A}" dt="2025-10-21T01:45:14.629" v="0" actId="20577"/>
      <pc:docMkLst>
        <pc:docMk/>
      </pc:docMkLst>
      <pc:sldChg chg="modSp mod">
        <pc:chgData name="Sergio Alejandro Chavez Molotla" userId="5d3b0a4a2086520f" providerId="LiveId" clId="{19B292A9-7D84-4F3C-9E6F-73776E5FF97A}" dt="2025-10-21T01:45:14.629" v="0" actId="20577"/>
        <pc:sldMkLst>
          <pc:docMk/>
          <pc:sldMk cId="1820297973" sldId="263"/>
        </pc:sldMkLst>
        <pc:spChg chg="mod">
          <ac:chgData name="Sergio Alejandro Chavez Molotla" userId="5d3b0a4a2086520f" providerId="LiveId" clId="{19B292A9-7D84-4F3C-9E6F-73776E5FF97A}" dt="2025-10-21T01:45:14.629" v="0" actId="20577"/>
          <ac:spMkLst>
            <pc:docMk/>
            <pc:sldMk cId="1820297973" sldId="263"/>
            <ac:spMk id="3" creationId="{B96B8172-3C81-1EAB-BE88-079ED0F18044}"/>
          </ac:spMkLst>
        </pc:spChg>
      </pc:sldChg>
    </pc:docChg>
  </pc:docChgLst>
  <pc:docChgLst>
    <pc:chgData name="Chavez, Sergio" userId="4010cf1f-a1fe-49fb-a547-ff3cd73b2900" providerId="ADAL" clId="{D99B16FE-7178-496C-BE0D-48357D74C699}"/>
    <pc:docChg chg="undo custSel addSld delSld modSld sldOrd">
      <pc:chgData name="Chavez, Sergio" userId="4010cf1f-a1fe-49fb-a547-ff3cd73b2900" providerId="ADAL" clId="{D99B16FE-7178-496C-BE0D-48357D74C699}" dt="2024-01-07T22:25:54.271" v="711" actId="20577"/>
      <pc:docMkLst>
        <pc:docMk/>
      </pc:docMkLst>
      <pc:sldChg chg="modSp mod">
        <pc:chgData name="Chavez, Sergio" userId="4010cf1f-a1fe-49fb-a547-ff3cd73b2900" providerId="ADAL" clId="{D99B16FE-7178-496C-BE0D-48357D74C699}" dt="2024-01-07T21:49:22.909" v="52" actId="1076"/>
        <pc:sldMkLst>
          <pc:docMk/>
          <pc:sldMk cId="0" sldId="256"/>
        </pc:sldMkLst>
      </pc:sldChg>
      <pc:sldChg chg="addSp delSp modSp new mod">
        <pc:chgData name="Chavez, Sergio" userId="4010cf1f-a1fe-49fb-a547-ff3cd73b2900" providerId="ADAL" clId="{D99B16FE-7178-496C-BE0D-48357D74C699}" dt="2024-01-07T21:52:32.897" v="65" actId="123"/>
        <pc:sldMkLst>
          <pc:docMk/>
          <pc:sldMk cId="2383576470" sldId="257"/>
        </pc:sldMkLst>
      </pc:sldChg>
      <pc:sldChg chg="addSp delSp modSp add mod">
        <pc:chgData name="Chavez, Sergio" userId="4010cf1f-a1fe-49fb-a547-ff3cd73b2900" providerId="ADAL" clId="{D99B16FE-7178-496C-BE0D-48357D74C699}" dt="2024-01-07T21:55:03.677" v="86" actId="14100"/>
        <pc:sldMkLst>
          <pc:docMk/>
          <pc:sldMk cId="1514484253" sldId="258"/>
        </pc:sldMkLst>
      </pc:sldChg>
      <pc:sldChg chg="del">
        <pc:chgData name="Chavez, Sergio" userId="4010cf1f-a1fe-49fb-a547-ff3cd73b2900" providerId="ADAL" clId="{D99B16FE-7178-496C-BE0D-48357D74C699}" dt="2024-01-07T21:48:17.440" v="3" actId="2696"/>
        <pc:sldMkLst>
          <pc:docMk/>
          <pc:sldMk cId="2912068913" sldId="258"/>
        </pc:sldMkLst>
      </pc:sldChg>
      <pc:sldChg chg="addSp modSp add mod">
        <pc:chgData name="Chavez, Sergio" userId="4010cf1f-a1fe-49fb-a547-ff3cd73b2900" providerId="ADAL" clId="{D99B16FE-7178-496C-BE0D-48357D74C699}" dt="2024-01-07T21:56:31.341" v="98" actId="1076"/>
        <pc:sldMkLst>
          <pc:docMk/>
          <pc:sldMk cId="3373426414" sldId="259"/>
        </pc:sldMkLst>
      </pc:sldChg>
      <pc:sldChg chg="addSp delSp modSp add mod">
        <pc:chgData name="Chavez, Sergio" userId="4010cf1f-a1fe-49fb-a547-ff3cd73b2900" providerId="ADAL" clId="{D99B16FE-7178-496C-BE0D-48357D74C699}" dt="2024-01-07T21:56:55.042" v="102" actId="1076"/>
        <pc:sldMkLst>
          <pc:docMk/>
          <pc:sldMk cId="2890017254" sldId="260"/>
        </pc:sldMkLst>
      </pc:sldChg>
      <pc:sldChg chg="addSp modSp add mod">
        <pc:chgData name="Chavez, Sergio" userId="4010cf1f-a1fe-49fb-a547-ff3cd73b2900" providerId="ADAL" clId="{D99B16FE-7178-496C-BE0D-48357D74C699}" dt="2024-01-07T21:57:51.566" v="107" actId="1076"/>
        <pc:sldMkLst>
          <pc:docMk/>
          <pc:sldMk cId="1732386102" sldId="261"/>
        </pc:sldMkLst>
      </pc:sldChg>
      <pc:sldChg chg="addSp delSp modSp add mod">
        <pc:chgData name="Chavez, Sergio" userId="4010cf1f-a1fe-49fb-a547-ff3cd73b2900" providerId="ADAL" clId="{D99B16FE-7178-496C-BE0D-48357D74C699}" dt="2024-01-07T21:59:55.291" v="207" actId="1076"/>
        <pc:sldMkLst>
          <pc:docMk/>
          <pc:sldMk cId="3272596312" sldId="262"/>
        </pc:sldMkLst>
      </pc:sldChg>
      <pc:sldChg chg="addSp modSp add mod">
        <pc:chgData name="Chavez, Sergio" userId="4010cf1f-a1fe-49fb-a547-ff3cd73b2900" providerId="ADAL" clId="{D99B16FE-7178-496C-BE0D-48357D74C699}" dt="2024-01-07T22:00:43.492" v="214" actId="1076"/>
        <pc:sldMkLst>
          <pc:docMk/>
          <pc:sldMk cId="1820297973" sldId="263"/>
        </pc:sldMkLst>
      </pc:sldChg>
      <pc:sldChg chg="addSp modSp add mod">
        <pc:chgData name="Chavez, Sergio" userId="4010cf1f-a1fe-49fb-a547-ff3cd73b2900" providerId="ADAL" clId="{D99B16FE-7178-496C-BE0D-48357D74C699}" dt="2024-01-07T22:02:09.915" v="223" actId="1076"/>
        <pc:sldMkLst>
          <pc:docMk/>
          <pc:sldMk cId="1356294294" sldId="264"/>
        </pc:sldMkLst>
      </pc:sldChg>
      <pc:sldChg chg="addSp delSp modSp new mod">
        <pc:chgData name="Chavez, Sergio" userId="4010cf1f-a1fe-49fb-a547-ff3cd73b2900" providerId="ADAL" clId="{D99B16FE-7178-496C-BE0D-48357D74C699}" dt="2024-01-07T22:03:16.494" v="250" actId="1076"/>
        <pc:sldMkLst>
          <pc:docMk/>
          <pc:sldMk cId="872970928" sldId="265"/>
        </pc:sldMkLst>
      </pc:sldChg>
      <pc:sldChg chg="addSp delSp modSp add mod">
        <pc:chgData name="Chavez, Sergio" userId="4010cf1f-a1fe-49fb-a547-ff3cd73b2900" providerId="ADAL" clId="{D99B16FE-7178-496C-BE0D-48357D74C699}" dt="2024-01-07T22:03:44.726" v="254" actId="1076"/>
        <pc:sldMkLst>
          <pc:docMk/>
          <pc:sldMk cId="2493753296" sldId="266"/>
        </pc:sldMkLst>
      </pc:sldChg>
      <pc:sldChg chg="addSp modSp add mod">
        <pc:chgData name="Chavez, Sergio" userId="4010cf1f-a1fe-49fb-a547-ff3cd73b2900" providerId="ADAL" clId="{D99B16FE-7178-496C-BE0D-48357D74C699}" dt="2024-01-07T22:09:42.240" v="370" actId="20577"/>
        <pc:sldMkLst>
          <pc:docMk/>
          <pc:sldMk cId="2692369762" sldId="267"/>
        </pc:sldMkLst>
      </pc:sldChg>
      <pc:sldChg chg="addSp delSp modSp add mod">
        <pc:chgData name="Chavez, Sergio" userId="4010cf1f-a1fe-49fb-a547-ff3cd73b2900" providerId="ADAL" clId="{D99B16FE-7178-496C-BE0D-48357D74C699}" dt="2024-01-07T22:07:15.118" v="330" actId="1076"/>
        <pc:sldMkLst>
          <pc:docMk/>
          <pc:sldMk cId="3937977877" sldId="268"/>
        </pc:sldMkLst>
      </pc:sldChg>
      <pc:sldChg chg="addSp modSp add mod">
        <pc:chgData name="Chavez, Sergio" userId="4010cf1f-a1fe-49fb-a547-ff3cd73b2900" providerId="ADAL" clId="{D99B16FE-7178-496C-BE0D-48357D74C699}" dt="2024-01-07T22:08:11.004" v="336" actId="2711"/>
        <pc:sldMkLst>
          <pc:docMk/>
          <pc:sldMk cId="2611969644" sldId="269"/>
        </pc:sldMkLst>
      </pc:sldChg>
      <pc:sldChg chg="addSp modSp add mod">
        <pc:chgData name="Chavez, Sergio" userId="4010cf1f-a1fe-49fb-a547-ff3cd73b2900" providerId="ADAL" clId="{D99B16FE-7178-496C-BE0D-48357D74C699}" dt="2024-01-07T22:09:08.607" v="345" actId="1076"/>
        <pc:sldMkLst>
          <pc:docMk/>
          <pc:sldMk cId="1997697912" sldId="270"/>
        </pc:sldMkLst>
      </pc:sldChg>
      <pc:sldChg chg="addSp modSp add mod">
        <pc:chgData name="Chavez, Sergio" userId="4010cf1f-a1fe-49fb-a547-ff3cd73b2900" providerId="ADAL" clId="{D99B16FE-7178-496C-BE0D-48357D74C699}" dt="2024-01-07T22:10:21.967" v="402" actId="1076"/>
        <pc:sldMkLst>
          <pc:docMk/>
          <pc:sldMk cId="632043546" sldId="271"/>
        </pc:sldMkLst>
      </pc:sldChg>
      <pc:sldChg chg="addSp modSp add mod">
        <pc:chgData name="Chavez, Sergio" userId="4010cf1f-a1fe-49fb-a547-ff3cd73b2900" providerId="ADAL" clId="{D99B16FE-7178-496C-BE0D-48357D74C699}" dt="2024-01-07T22:11:14.509" v="408" actId="1076"/>
        <pc:sldMkLst>
          <pc:docMk/>
          <pc:sldMk cId="4130242459" sldId="272"/>
        </pc:sldMkLst>
      </pc:sldChg>
      <pc:sldChg chg="addSp delSp modSp add mod">
        <pc:chgData name="Chavez, Sergio" userId="4010cf1f-a1fe-49fb-a547-ff3cd73b2900" providerId="ADAL" clId="{D99B16FE-7178-496C-BE0D-48357D74C699}" dt="2024-01-07T22:14:15.839" v="515" actId="1076"/>
        <pc:sldMkLst>
          <pc:docMk/>
          <pc:sldMk cId="3074563497" sldId="273"/>
        </pc:sldMkLst>
      </pc:sldChg>
      <pc:sldChg chg="addSp delSp modSp add mod">
        <pc:chgData name="Chavez, Sergio" userId="4010cf1f-a1fe-49fb-a547-ff3cd73b2900" providerId="ADAL" clId="{D99B16FE-7178-496C-BE0D-48357D74C699}" dt="2024-01-07T22:16:29.258" v="546" actId="1076"/>
        <pc:sldMkLst>
          <pc:docMk/>
          <pc:sldMk cId="2108851773" sldId="274"/>
        </pc:sldMkLst>
      </pc:sldChg>
      <pc:sldChg chg="addSp modSp add mod">
        <pc:chgData name="Chavez, Sergio" userId="4010cf1f-a1fe-49fb-a547-ff3cd73b2900" providerId="ADAL" clId="{D99B16FE-7178-496C-BE0D-48357D74C699}" dt="2024-01-07T22:17:32.555" v="552" actId="1076"/>
        <pc:sldMkLst>
          <pc:docMk/>
          <pc:sldMk cId="2170347154" sldId="275"/>
        </pc:sldMkLst>
      </pc:sldChg>
      <pc:sldChg chg="addSp modSp add mod">
        <pc:chgData name="Chavez, Sergio" userId="4010cf1f-a1fe-49fb-a547-ff3cd73b2900" providerId="ADAL" clId="{D99B16FE-7178-496C-BE0D-48357D74C699}" dt="2024-01-07T22:18:14.556" v="560" actId="1076"/>
        <pc:sldMkLst>
          <pc:docMk/>
          <pc:sldMk cId="1855348055" sldId="276"/>
        </pc:sldMkLst>
      </pc:sldChg>
      <pc:sldChg chg="addSp delSp modSp add mod">
        <pc:chgData name="Chavez, Sergio" userId="4010cf1f-a1fe-49fb-a547-ff3cd73b2900" providerId="ADAL" clId="{D99B16FE-7178-496C-BE0D-48357D74C699}" dt="2024-01-07T22:19:35.625" v="608" actId="22"/>
        <pc:sldMkLst>
          <pc:docMk/>
          <pc:sldMk cId="3946858877" sldId="277"/>
        </pc:sldMkLst>
      </pc:sldChg>
      <pc:sldChg chg="addSp delSp modSp add mod ord">
        <pc:chgData name="Chavez, Sergio" userId="4010cf1f-a1fe-49fb-a547-ff3cd73b2900" providerId="ADAL" clId="{D99B16FE-7178-496C-BE0D-48357D74C699}" dt="2024-01-07T22:13:48.315" v="509"/>
        <pc:sldMkLst>
          <pc:docMk/>
          <pc:sldMk cId="1992211480" sldId="278"/>
        </pc:sldMkLst>
      </pc:sldChg>
      <pc:sldChg chg="addSp modSp add mod">
        <pc:chgData name="Chavez, Sergio" userId="4010cf1f-a1fe-49fb-a547-ff3cd73b2900" providerId="ADAL" clId="{D99B16FE-7178-496C-BE0D-48357D74C699}" dt="2024-01-07T22:21:08.561" v="627" actId="1076"/>
        <pc:sldMkLst>
          <pc:docMk/>
          <pc:sldMk cId="1164772705" sldId="279"/>
        </pc:sldMkLst>
      </pc:sldChg>
      <pc:sldChg chg="addSp modSp add mod">
        <pc:chgData name="Chavez, Sergio" userId="4010cf1f-a1fe-49fb-a547-ff3cd73b2900" providerId="ADAL" clId="{D99B16FE-7178-496C-BE0D-48357D74C699}" dt="2024-01-07T22:22:14.752" v="635" actId="1076"/>
        <pc:sldMkLst>
          <pc:docMk/>
          <pc:sldMk cId="248714485" sldId="280"/>
        </pc:sldMkLst>
      </pc:sldChg>
      <pc:sldChg chg="addSp delSp modSp add mod">
        <pc:chgData name="Chavez, Sergio" userId="4010cf1f-a1fe-49fb-a547-ff3cd73b2900" providerId="ADAL" clId="{D99B16FE-7178-496C-BE0D-48357D74C699}" dt="2024-01-07T22:24:44.962" v="662" actId="27636"/>
        <pc:sldMkLst>
          <pc:docMk/>
          <pc:sldMk cId="3943253851" sldId="281"/>
        </pc:sldMkLst>
      </pc:sldChg>
      <pc:sldChg chg="modSp add mod">
        <pc:chgData name="Chavez, Sergio" userId="4010cf1f-a1fe-49fb-a547-ff3cd73b2900" providerId="ADAL" clId="{D99B16FE-7178-496C-BE0D-48357D74C699}" dt="2024-01-07T22:25:54.271" v="711" actId="20577"/>
        <pc:sldMkLst>
          <pc:docMk/>
          <pc:sldMk cId="2140543303" sldId="282"/>
        </pc:sldMkLst>
      </pc:sldChg>
      <pc:sldChg chg="del">
        <pc:chgData name="Chavez, Sergio" userId="4010cf1f-a1fe-49fb-a547-ff3cd73b2900" providerId="ADAL" clId="{D99B16FE-7178-496C-BE0D-48357D74C699}" dt="2024-01-07T21:48:18.143" v="4" actId="47"/>
        <pc:sldMkLst>
          <pc:docMk/>
          <pc:sldMk cId="3020561099" sldId="323"/>
        </pc:sldMkLst>
      </pc:sldChg>
      <pc:sldChg chg="addSp delSp modSp del mod chgLayout">
        <pc:chgData name="Chavez, Sergio" userId="4010cf1f-a1fe-49fb-a547-ff3cd73b2900" providerId="ADAL" clId="{D99B16FE-7178-496C-BE0D-48357D74C699}" dt="2024-01-07T21:48:18.533" v="5" actId="47"/>
        <pc:sldMkLst>
          <pc:docMk/>
          <pc:sldMk cId="3071224435" sldId="324"/>
        </pc:sldMkLst>
      </pc:sldChg>
      <pc:sldChg chg="new del">
        <pc:chgData name="Chavez, Sergio" userId="4010cf1f-a1fe-49fb-a547-ff3cd73b2900" providerId="ADAL" clId="{D99B16FE-7178-496C-BE0D-48357D74C699}" dt="2024-01-02T23:22:48.404" v="1" actId="680"/>
        <pc:sldMkLst>
          <pc:docMk/>
          <pc:sldMk cId="3454597464" sldId="325"/>
        </pc:sldMkLst>
      </pc:sldChg>
    </pc:docChg>
  </pc:docChgLst>
  <pc:docChgLst>
    <pc:chgData name="Chavez, Sergio" userId="4010cf1f-a1fe-49fb-a547-ff3cd73b2900" providerId="ADAL" clId="{2E6C93DD-2060-41E9-A681-11E4A5B6FA1F}"/>
    <pc:docChg chg="modSld">
      <pc:chgData name="Chavez, Sergio" userId="4010cf1f-a1fe-49fb-a547-ff3cd73b2900" providerId="ADAL" clId="{2E6C93DD-2060-41E9-A681-11E4A5B6FA1F}" dt="2024-01-08T18:55:51.761" v="1" actId="20577"/>
      <pc:docMkLst>
        <pc:docMk/>
      </pc:docMkLst>
      <pc:sldChg chg="modSp mod">
        <pc:chgData name="Chavez, Sergio" userId="4010cf1f-a1fe-49fb-a547-ff3cd73b2900" providerId="ADAL" clId="{2E6C93DD-2060-41E9-A681-11E4A5B6FA1F}" dt="2024-01-08T18:55:51.761" v="1" actId="20577"/>
        <pc:sldMkLst>
          <pc:docMk/>
          <pc:sldMk cId="1164772705"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EF185C-0EF0-BB49-BC25-754D063961F0}" type="datetimeFigureOut">
              <a:rPr lang="en-US" smtClean="0"/>
              <a:t>10/20/2025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9C18AA-0A68-5B4D-AA15-2B9076B59957}" type="slidenum">
              <a:rPr lang="en-US" smtClean="0"/>
              <a:t>‹Nº›</a:t>
            </a:fld>
            <a:endParaRPr lang="en-US"/>
          </a:p>
        </p:txBody>
      </p:sp>
    </p:spTree>
    <p:extLst>
      <p:ext uri="{BB962C8B-B14F-4D97-AF65-F5344CB8AC3E}">
        <p14:creationId xmlns:p14="http://schemas.microsoft.com/office/powerpoint/2010/main" val="238815569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Picture 13" descr="portada_final"/>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1 Título"/>
          <p:cNvSpPr>
            <a:spLocks noGrp="1"/>
          </p:cNvSpPr>
          <p:nvPr>
            <p:ph type="ctrTitle"/>
          </p:nvPr>
        </p:nvSpPr>
        <p:spPr>
          <a:xfrm>
            <a:off x="2267744" y="3183111"/>
            <a:ext cx="6768752" cy="1470025"/>
          </a:xfrm>
          <a:prstGeom prst="rect">
            <a:avLst/>
          </a:prstGeom>
        </p:spPr>
        <p:txBody>
          <a:bodyPr/>
          <a:lstStyle>
            <a:lvl1pPr algn="l">
              <a:defRPr sz="3200" cap="all"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s-ES" dirty="0"/>
              <a:t>Haga clic para modificar el estilo de título del patrón</a:t>
            </a:r>
            <a:endParaRPr lang="es-MX" dirty="0"/>
          </a:p>
        </p:txBody>
      </p:sp>
      <p:sp>
        <p:nvSpPr>
          <p:cNvPr id="3" name="2 Subtítulo"/>
          <p:cNvSpPr>
            <a:spLocks noGrp="1"/>
          </p:cNvSpPr>
          <p:nvPr>
            <p:ph type="subTitle" idx="1"/>
          </p:nvPr>
        </p:nvSpPr>
        <p:spPr>
          <a:xfrm>
            <a:off x="2267744" y="4869160"/>
            <a:ext cx="6768752" cy="1054968"/>
          </a:xfrm>
          <a:prstGeom prst="rect">
            <a:avLst/>
          </a:prstGeom>
        </p:spPr>
        <p:txBody>
          <a:bodyPr/>
          <a:lstStyle>
            <a:lvl1pPr marL="0" indent="0" algn="l">
              <a:buNone/>
              <a:defRPr sz="28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dirty="0"/>
              <a:t>Haga clic para modificar el estilo de subtítulo del patrón</a:t>
            </a:r>
            <a:endParaRPr lang="es-MX" dirty="0"/>
          </a:p>
        </p:txBody>
      </p:sp>
    </p:spTree>
    <p:extLst>
      <p:ext uri="{BB962C8B-B14F-4D97-AF65-F5344CB8AC3E}">
        <p14:creationId xmlns:p14="http://schemas.microsoft.com/office/powerpoint/2010/main" val="3955400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8229600" cy="1143000"/>
          </a:xfrm>
          <a:prstGeom prst="rect">
            <a:avLst/>
          </a:prstGeom>
        </p:spPr>
        <p:txBody>
          <a:bodyPr/>
          <a:lstStyle>
            <a:lvl1pPr>
              <a:defRPr lang="es-MX" sz="3600" kern="1200" dirty="0">
                <a:solidFill>
                  <a:srgbClr val="306E49"/>
                </a:solidFill>
                <a:latin typeface="Verdana" pitchFamily="34" charset="0"/>
                <a:ea typeface="+mn-ea"/>
                <a:cs typeface="+mn-cs"/>
              </a:defRPr>
            </a:lvl1pPr>
          </a:lstStyle>
          <a:p>
            <a:r>
              <a:rPr lang="es-ES" dirty="0"/>
              <a:t>Haga clic para modificar el estilo de título del patrón</a:t>
            </a:r>
            <a:endParaRPr lang="es-MX" dirty="0"/>
          </a:p>
        </p:txBody>
      </p:sp>
      <p:sp>
        <p:nvSpPr>
          <p:cNvPr id="3" name="2 Marcador de contenido"/>
          <p:cNvSpPr>
            <a:spLocks noGrp="1"/>
          </p:cNvSpPr>
          <p:nvPr>
            <p:ph idx="1"/>
          </p:nvPr>
        </p:nvSpPr>
        <p:spPr>
          <a:xfrm>
            <a:off x="457200" y="1600200"/>
            <a:ext cx="8229600" cy="4525963"/>
          </a:xfrm>
          <a:prstGeom prst="rect">
            <a:avLst/>
          </a:prstGeom>
        </p:spPr>
        <p:txBody>
          <a:bodyPr/>
          <a:lstStyle>
            <a:lvl1pPr>
              <a:defRPr lang="es-ES" sz="2000" kern="1200" dirty="0" smtClean="0">
                <a:solidFill>
                  <a:schemeClr val="tx1"/>
                </a:solidFill>
                <a:latin typeface="Verdana" pitchFamily="34" charset="0"/>
                <a:ea typeface="+mn-ea"/>
                <a:cs typeface="+mn-cs"/>
              </a:defRPr>
            </a:lvl1pPr>
            <a:lvl2pPr>
              <a:defRPr sz="2000">
                <a:latin typeface="Verdana" panose="020B0604030504040204" pitchFamily="34" charset="0"/>
                <a:ea typeface="Verdana" panose="020B0604030504040204" pitchFamily="34" charset="0"/>
                <a:cs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2924086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3200" b="0" cap="all">
                <a:latin typeface="Verdana" panose="020B0604030504040204" pitchFamily="34" charset="0"/>
                <a:ea typeface="Verdana" panose="020B0604030504040204" pitchFamily="34" charset="0"/>
                <a:cs typeface="Verdana" panose="020B0604030504040204" pitchFamily="34" charset="0"/>
              </a:defRPr>
            </a:lvl1p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1600">
                <a:latin typeface="Verdana" panose="020B0604030504040204" pitchFamily="34" charset="0"/>
                <a:ea typeface="Verdana" panose="020B0604030504040204" pitchFamily="34" charset="0"/>
                <a:cs typeface="Verdana" panose="020B0604030504040204"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288211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8229600" cy="1143000"/>
          </a:xfrm>
          <a:prstGeom prst="rect">
            <a:avLst/>
          </a:prstGeom>
        </p:spPr>
        <p:txBody>
          <a:bodyPr/>
          <a:lstStyle>
            <a:lvl1pPr>
              <a:defRPr lang="es-MX" sz="3600" kern="1200" dirty="0">
                <a:solidFill>
                  <a:srgbClr val="306E49"/>
                </a:solidFill>
                <a:latin typeface="Verdana" pitchFamily="34" charset="0"/>
                <a:ea typeface="+mn-ea"/>
                <a:cs typeface="+mn-cs"/>
              </a:defRPr>
            </a:lvl1pPr>
          </a:lstStyle>
          <a:p>
            <a:r>
              <a:rPr lang="es-ES" dirty="0"/>
              <a:t>Haga clic para modificar el estilo de título del patrón</a:t>
            </a:r>
            <a:endParaRPr lang="es-MX" dirty="0"/>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000">
                <a:latin typeface="Verdana" panose="020B0604030504040204" pitchFamily="34" charset="0"/>
                <a:ea typeface="Verdana" panose="020B0604030504040204" pitchFamily="34" charset="0"/>
                <a:cs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defRPr>
            </a:lvl2pPr>
            <a:lvl3pPr>
              <a:defRPr sz="1600">
                <a:latin typeface="Verdana" panose="020B0604030504040204" pitchFamily="34" charset="0"/>
                <a:ea typeface="Verdana" panose="020B0604030504040204" pitchFamily="34" charset="0"/>
                <a:cs typeface="Verdana" panose="020B0604030504040204" pitchFamily="34" charset="0"/>
              </a:defRPr>
            </a:lvl3pPr>
            <a:lvl4pPr>
              <a:defRPr sz="1400">
                <a:latin typeface="Verdana" panose="020B0604030504040204" pitchFamily="34" charset="0"/>
                <a:ea typeface="Verdana" panose="020B0604030504040204" pitchFamily="34" charset="0"/>
                <a:cs typeface="Verdana" panose="020B0604030504040204" pitchFamily="34" charset="0"/>
              </a:defRPr>
            </a:lvl4pPr>
            <a:lvl5pPr>
              <a:defRPr sz="1400">
                <a:latin typeface="Verdana" panose="020B0604030504040204" pitchFamily="34" charset="0"/>
                <a:ea typeface="Verdana" panose="020B0604030504040204" pitchFamily="34" charset="0"/>
                <a:cs typeface="Verdana" panose="020B0604030504040204" pitchFamily="34" charset="0"/>
              </a:defRPr>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000">
                <a:latin typeface="Verdana" panose="020B0604030504040204" pitchFamily="34" charset="0"/>
                <a:ea typeface="Verdana" panose="020B0604030504040204" pitchFamily="34" charset="0"/>
                <a:cs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defRPr>
            </a:lvl2pPr>
            <a:lvl3pPr>
              <a:defRPr sz="1600">
                <a:latin typeface="Verdana" panose="020B0604030504040204" pitchFamily="34" charset="0"/>
                <a:ea typeface="Verdana" panose="020B0604030504040204" pitchFamily="34" charset="0"/>
                <a:cs typeface="Verdana" panose="020B0604030504040204" pitchFamily="34" charset="0"/>
              </a:defRPr>
            </a:lvl3pPr>
            <a:lvl4pPr>
              <a:defRPr sz="1400">
                <a:latin typeface="Verdana" panose="020B0604030504040204" pitchFamily="34" charset="0"/>
                <a:ea typeface="Verdana" panose="020B0604030504040204" pitchFamily="34" charset="0"/>
                <a:cs typeface="Verdana" panose="020B0604030504040204" pitchFamily="34" charset="0"/>
              </a:defRPr>
            </a:lvl4pPr>
            <a:lvl5pPr>
              <a:defRPr sz="1400">
                <a:latin typeface="Verdana" panose="020B0604030504040204" pitchFamily="34" charset="0"/>
                <a:ea typeface="Verdana" panose="020B0604030504040204" pitchFamily="34" charset="0"/>
                <a:cs typeface="Verdana" panose="020B0604030504040204" pitchFamily="34" charset="0"/>
              </a:defRPr>
            </a:lvl5pPr>
            <a:lvl6pPr>
              <a:defRPr sz="1800"/>
            </a:lvl6pPr>
            <a:lvl7pPr>
              <a:defRPr sz="1800"/>
            </a:lvl7pPr>
            <a:lvl8pPr>
              <a:defRPr sz="1800"/>
            </a:lvl8pPr>
            <a:lvl9pPr>
              <a:defRPr sz="18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78384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8229600" cy="1143000"/>
          </a:xfrm>
          <a:prstGeom prst="rect">
            <a:avLst/>
          </a:prstGeom>
        </p:spPr>
        <p:txBody>
          <a:bodyPr/>
          <a:lstStyle>
            <a:lvl1pPr>
              <a:defRPr lang="es-MX" sz="3600" kern="1200" dirty="0">
                <a:solidFill>
                  <a:srgbClr val="306E49"/>
                </a:solidFill>
                <a:latin typeface="Verdana" pitchFamily="34" charset="0"/>
                <a:ea typeface="+mn-ea"/>
                <a:cs typeface="+mn-cs"/>
              </a:defRPr>
            </a:lvl1p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000" b="1">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000">
                <a:latin typeface="Verdana" panose="020B0604030504040204" pitchFamily="34" charset="0"/>
                <a:ea typeface="Verdana" panose="020B0604030504040204" pitchFamily="34" charset="0"/>
                <a:cs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defRPr>
            </a:lvl2pPr>
            <a:lvl3pPr>
              <a:defRPr sz="1600">
                <a:latin typeface="Verdana" panose="020B0604030504040204" pitchFamily="34" charset="0"/>
                <a:ea typeface="Verdana" panose="020B0604030504040204" pitchFamily="34" charset="0"/>
                <a:cs typeface="Verdana" panose="020B0604030504040204" pitchFamily="34" charset="0"/>
              </a:defRPr>
            </a:lvl3pPr>
            <a:lvl4pPr>
              <a:defRPr sz="1400">
                <a:latin typeface="Verdana" panose="020B0604030504040204" pitchFamily="34" charset="0"/>
                <a:ea typeface="Verdana" panose="020B0604030504040204" pitchFamily="34" charset="0"/>
                <a:cs typeface="Verdana" panose="020B0604030504040204" pitchFamily="34" charset="0"/>
              </a:defRPr>
            </a:lvl4pPr>
            <a:lvl5pPr>
              <a:defRPr sz="1400">
                <a:latin typeface="Verdana" panose="020B0604030504040204" pitchFamily="34" charset="0"/>
                <a:ea typeface="Verdana" panose="020B0604030504040204" pitchFamily="34" charset="0"/>
                <a:cs typeface="Verdana" panose="020B060403050404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000" b="1">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000">
                <a:latin typeface="Verdana" panose="020B0604030504040204" pitchFamily="34" charset="0"/>
                <a:ea typeface="Verdana" panose="020B0604030504040204" pitchFamily="34" charset="0"/>
                <a:cs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defRPr>
            </a:lvl2pPr>
            <a:lvl3pPr>
              <a:defRPr sz="1600">
                <a:latin typeface="Verdana" panose="020B0604030504040204" pitchFamily="34" charset="0"/>
                <a:ea typeface="Verdana" panose="020B0604030504040204" pitchFamily="34" charset="0"/>
                <a:cs typeface="Verdana" panose="020B0604030504040204" pitchFamily="34" charset="0"/>
              </a:defRPr>
            </a:lvl3pPr>
            <a:lvl4pPr>
              <a:defRPr sz="1400">
                <a:latin typeface="Verdana" panose="020B0604030504040204" pitchFamily="34" charset="0"/>
                <a:ea typeface="Verdana" panose="020B0604030504040204" pitchFamily="34" charset="0"/>
                <a:cs typeface="Verdana" panose="020B0604030504040204" pitchFamily="34" charset="0"/>
              </a:defRPr>
            </a:lvl4pPr>
            <a:lvl5pPr>
              <a:defRPr sz="1400">
                <a:latin typeface="Verdana" panose="020B0604030504040204" pitchFamily="34" charset="0"/>
                <a:ea typeface="Verdana" panose="020B0604030504040204" pitchFamily="34" charset="0"/>
                <a:cs typeface="Verdana" panose="020B0604030504040204" pitchFamily="34" charset="0"/>
              </a:defRPr>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2710392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8229600" cy="1143000"/>
          </a:xfrm>
          <a:prstGeom prst="rect">
            <a:avLst/>
          </a:prstGeom>
        </p:spPr>
        <p:txBody>
          <a:bodyPr/>
          <a:lstStyle>
            <a:lvl1pPr>
              <a:defRPr lang="es-MX" sz="3600" kern="1200" dirty="0">
                <a:solidFill>
                  <a:srgbClr val="306E49"/>
                </a:solidFill>
                <a:latin typeface="Verdana" pitchFamily="34" charset="0"/>
                <a:ea typeface="+mn-ea"/>
                <a:cs typeface="+mn-cs"/>
              </a:defRPr>
            </a:lvl1pPr>
          </a:lstStyle>
          <a:p>
            <a:r>
              <a:rPr lang="es-ES" dirty="0"/>
              <a:t>Haga clic para modificar el estilo de título del patrón</a:t>
            </a:r>
            <a:endParaRPr lang="es-MX" dirty="0"/>
          </a:p>
        </p:txBody>
      </p:sp>
    </p:spTree>
    <p:extLst>
      <p:ext uri="{BB962C8B-B14F-4D97-AF65-F5344CB8AC3E}">
        <p14:creationId xmlns:p14="http://schemas.microsoft.com/office/powerpoint/2010/main" val="2957079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2 Rectángulo"/>
          <p:cNvSpPr/>
          <p:nvPr userDrawn="1"/>
        </p:nvSpPr>
        <p:spPr>
          <a:xfrm>
            <a:off x="0" y="0"/>
            <a:ext cx="9144000" cy="6437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Tree>
    <p:extLst>
      <p:ext uri="{BB962C8B-B14F-4D97-AF65-F5344CB8AC3E}">
        <p14:creationId xmlns:p14="http://schemas.microsoft.com/office/powerpoint/2010/main" val="256151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5" name="2 Rectángulo"/>
          <p:cNvSpPr/>
          <p:nvPr userDrawn="1"/>
        </p:nvSpPr>
        <p:spPr>
          <a:xfrm>
            <a:off x="0" y="0"/>
            <a:ext cx="9144000" cy="6437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 name="1 Título"/>
          <p:cNvSpPr>
            <a:spLocks noGrp="1"/>
          </p:cNvSpPr>
          <p:nvPr>
            <p:ph type="title"/>
          </p:nvPr>
        </p:nvSpPr>
        <p:spPr>
          <a:xfrm>
            <a:off x="457200" y="273050"/>
            <a:ext cx="3008313" cy="1162050"/>
          </a:xfrm>
          <a:prstGeom prst="rect">
            <a:avLst/>
          </a:prstGeom>
        </p:spPr>
        <p:txBody>
          <a:bodyPr anchor="b"/>
          <a:lstStyle>
            <a:lvl1pPr algn="l">
              <a:defRPr sz="1800" b="1">
                <a:latin typeface="Verdana" panose="020B0604030504040204" pitchFamily="34" charset="0"/>
                <a:ea typeface="Verdana" panose="020B0604030504040204" pitchFamily="34" charset="0"/>
                <a:cs typeface="Verdana" panose="020B0604030504040204" pitchFamily="34" charset="0"/>
              </a:defRPr>
            </a:lvl1pPr>
          </a:lstStyle>
          <a:p>
            <a:r>
              <a:rPr lang="es-ES"/>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2800">
                <a:latin typeface="Verdana" panose="020B0604030504040204" pitchFamily="34" charset="0"/>
                <a:ea typeface="Verdana" panose="020B0604030504040204" pitchFamily="34" charset="0"/>
                <a:cs typeface="Verdana" panose="020B0604030504040204" pitchFamily="34" charset="0"/>
              </a:defRPr>
            </a:lvl1pPr>
            <a:lvl2pPr>
              <a:defRPr sz="2400">
                <a:latin typeface="Verdana" panose="020B0604030504040204" pitchFamily="34" charset="0"/>
                <a:ea typeface="Verdana" panose="020B0604030504040204" pitchFamily="34" charset="0"/>
                <a:cs typeface="Verdana" panose="020B0604030504040204" pitchFamily="34" charset="0"/>
              </a:defRPr>
            </a:lvl2pPr>
            <a:lvl3pPr>
              <a:defRPr sz="2000">
                <a:latin typeface="Verdana" panose="020B0604030504040204" pitchFamily="34" charset="0"/>
                <a:ea typeface="Verdana" panose="020B0604030504040204" pitchFamily="34" charset="0"/>
                <a:cs typeface="Verdana" panose="020B0604030504040204" pitchFamily="34" charset="0"/>
              </a:defRPr>
            </a:lvl3pPr>
            <a:lvl4pPr>
              <a:defRPr sz="1800">
                <a:latin typeface="Verdana" panose="020B0604030504040204" pitchFamily="34" charset="0"/>
                <a:ea typeface="Verdana" panose="020B0604030504040204" pitchFamily="34" charset="0"/>
                <a:cs typeface="Verdana" panose="020B0604030504040204" pitchFamily="34" charset="0"/>
              </a:defRPr>
            </a:lvl4pPr>
            <a:lvl5pPr>
              <a:defRPr sz="1800">
                <a:latin typeface="Verdana" panose="020B0604030504040204" pitchFamily="34" charset="0"/>
                <a:ea typeface="Verdana" panose="020B0604030504040204" pitchFamily="34" charset="0"/>
                <a:cs typeface="Verdana" panose="020B0604030504040204" pitchFamily="34" charset="0"/>
              </a:defRPr>
            </a:lvl5pPr>
            <a:lvl6pPr>
              <a:defRPr sz="2000"/>
            </a:lvl6pPr>
            <a:lvl7pPr>
              <a:defRPr sz="2000"/>
            </a:lvl7pPr>
            <a:lvl8pPr>
              <a:defRPr sz="2000"/>
            </a:lvl8pPr>
            <a:lvl9pPr>
              <a:defRPr sz="20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200">
                <a:latin typeface="Verdana" panose="020B0604030504040204" pitchFamily="34" charset="0"/>
                <a:ea typeface="Verdana" panose="020B0604030504040204" pitchFamily="34" charset="0"/>
                <a:cs typeface="Verdana" panose="020B060403050404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2260844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5" name="2 Rectángulo"/>
          <p:cNvSpPr/>
          <p:nvPr userDrawn="1"/>
        </p:nvSpPr>
        <p:spPr>
          <a:xfrm>
            <a:off x="0" y="0"/>
            <a:ext cx="9144000" cy="6437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atin typeface="Verdana" panose="020B0604030504040204" pitchFamily="34" charset="0"/>
                <a:ea typeface="Verdana" panose="020B0604030504040204" pitchFamily="34" charset="0"/>
                <a:cs typeface="Verdana" panose="020B0604030504040204" pitchFamily="34" charset="0"/>
              </a:defRPr>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atin typeface="Verdana" panose="020B0604030504040204" pitchFamily="34" charset="0"/>
                <a:ea typeface="Verdana" panose="020B0604030504040204" pitchFamily="34" charset="0"/>
                <a:cs typeface="Verdana" panose="020B060403050404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MX"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atin typeface="Verdana" panose="020B0604030504040204" pitchFamily="34" charset="0"/>
                <a:ea typeface="Verdana" panose="020B0604030504040204" pitchFamily="34" charset="0"/>
                <a:cs typeface="Verdana" panose="020B060403050404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741798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6632"/>
            <a:ext cx="8229600" cy="1143000"/>
          </a:xfrm>
          <a:prstGeom prst="rect">
            <a:avLst/>
          </a:prstGeom>
        </p:spPr>
        <p:txBody>
          <a:bodyPr/>
          <a:lstStyle>
            <a:lvl1pPr>
              <a:defRPr lang="es-MX" sz="3600" kern="1200" dirty="0">
                <a:solidFill>
                  <a:srgbClr val="306E49"/>
                </a:solidFill>
                <a:latin typeface="Verdana" pitchFamily="34" charset="0"/>
                <a:ea typeface="+mn-ea"/>
                <a:cs typeface="+mn-cs"/>
              </a:defRPr>
            </a:lvl1pPr>
          </a:lstStyle>
          <a:p>
            <a:pPr lvl="0"/>
            <a:r>
              <a:rPr lang="es-ES" dirty="0"/>
              <a:t>Haga clic para modificar el estilo de título del patrón</a:t>
            </a:r>
            <a:endParaRPr lang="es-MX" dirty="0"/>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lvl1pPr>
              <a:defRPr sz="2400">
                <a:latin typeface="Verdana" panose="020B0604030504040204" pitchFamily="34" charset="0"/>
                <a:ea typeface="Verdana" panose="020B0604030504040204" pitchFamily="34" charset="0"/>
                <a:cs typeface="Verdana" panose="020B0604030504040204" pitchFamily="34" charset="0"/>
              </a:defRPr>
            </a:lvl1pPr>
            <a:lvl2pPr>
              <a:defRPr sz="2000">
                <a:latin typeface="Verdana" panose="020B0604030504040204" pitchFamily="34" charset="0"/>
                <a:ea typeface="Verdana" panose="020B0604030504040204" pitchFamily="34" charset="0"/>
                <a:cs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3864239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4" name="2 Rectángulo"/>
          <p:cNvSpPr/>
          <p:nvPr userDrawn="1"/>
        </p:nvSpPr>
        <p:spPr>
          <a:xfrm>
            <a:off x="0" y="0"/>
            <a:ext cx="9144000" cy="6437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 name="1 Título vertical"/>
          <p:cNvSpPr>
            <a:spLocks noGrp="1"/>
          </p:cNvSpPr>
          <p:nvPr>
            <p:ph type="title" orient="vert"/>
          </p:nvPr>
        </p:nvSpPr>
        <p:spPr>
          <a:xfrm>
            <a:off x="6629400" y="274638"/>
            <a:ext cx="2057400" cy="5851525"/>
          </a:xfrm>
          <a:prstGeom prst="rect">
            <a:avLst/>
          </a:prstGeom>
        </p:spPr>
        <p:txBody>
          <a:bodyPr vert="eaVert"/>
          <a:lstStyle>
            <a:lvl1pPr algn="ctr">
              <a:defRPr sz="3600">
                <a:latin typeface="Verdana" panose="020B0604030504040204" pitchFamily="34" charset="0"/>
                <a:ea typeface="Verdana" panose="020B0604030504040204" pitchFamily="34" charset="0"/>
                <a:cs typeface="Verdana" panose="020B0604030504040204" pitchFamily="34" charset="0"/>
              </a:defRPr>
            </a:lvl1pPr>
          </a:lstStyle>
          <a:p>
            <a:r>
              <a:rPr lang="es-ES" dirty="0"/>
              <a:t>Haga clic para modificar el estilo de título del patrón</a:t>
            </a:r>
            <a:endParaRPr lang="es-MX" dirty="0"/>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lvl1pPr>
              <a:defRPr sz="2400">
                <a:latin typeface="Verdana" panose="020B0604030504040204" pitchFamily="34" charset="0"/>
                <a:ea typeface="Verdana" panose="020B0604030504040204" pitchFamily="34" charset="0"/>
                <a:cs typeface="Verdana" panose="020B0604030504040204" pitchFamily="34" charset="0"/>
              </a:defRPr>
            </a:lvl1pPr>
            <a:lvl2pPr>
              <a:defRPr sz="2000">
                <a:latin typeface="Verdana" panose="020B0604030504040204" pitchFamily="34" charset="0"/>
                <a:ea typeface="Verdana" panose="020B0604030504040204" pitchFamily="34" charset="0"/>
                <a:cs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Tree>
    <p:extLst>
      <p:ext uri="{BB962C8B-B14F-4D97-AF65-F5344CB8AC3E}">
        <p14:creationId xmlns:p14="http://schemas.microsoft.com/office/powerpoint/2010/main" val="631834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3" descr="interna_final"/>
          <p:cNvPicPr>
            <a:picLocks noChangeAspect="1" noChangeArrowheads="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3" r:id="rId1"/>
    <p:sldLayoutId id="2147483677" r:id="rId2"/>
    <p:sldLayoutId id="2147483678" r:id="rId3"/>
    <p:sldLayoutId id="2147483679" r:id="rId4"/>
    <p:sldLayoutId id="2147483680" r:id="rId5"/>
    <p:sldLayoutId id="2147483681" r:id="rId6"/>
    <p:sldLayoutId id="2147483684" r:id="rId7"/>
    <p:sldLayoutId id="2147483685" r:id="rId8"/>
    <p:sldLayoutId id="2147483686" r:id="rId9"/>
    <p:sldLayoutId id="2147483682" r:id="rId10"/>
    <p:sldLayoutId id="2147483687"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5"/>
          <p:cNvSpPr txBox="1">
            <a:spLocks noChangeArrowheads="1"/>
          </p:cNvSpPr>
          <p:nvPr/>
        </p:nvSpPr>
        <p:spPr bwMode="auto">
          <a:xfrm>
            <a:off x="2700338" y="2997200"/>
            <a:ext cx="51117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50000"/>
              </a:spcBef>
            </a:pPr>
            <a:endParaRPr lang="es-MX"/>
          </a:p>
        </p:txBody>
      </p:sp>
      <p:pic>
        <p:nvPicPr>
          <p:cNvPr id="7171" name="Picture 13" descr="portada_final"/>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822"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72" name="1 Título"/>
          <p:cNvSpPr>
            <a:spLocks/>
          </p:cNvSpPr>
          <p:nvPr/>
        </p:nvSpPr>
        <p:spPr bwMode="auto">
          <a:xfrm>
            <a:off x="1331641" y="4005263"/>
            <a:ext cx="7407548" cy="1612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p>
            <a:r>
              <a:rPr lang="es-MX" sz="3200" dirty="0">
                <a:solidFill>
                  <a:schemeClr val="bg1"/>
                </a:solidFill>
                <a:latin typeface="Verdana" charset="0"/>
              </a:rPr>
              <a:t>INTRODUCCION AL APRENDIZAJE DE MAQUINA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dirty="0"/>
              <a:t>¿Qué es la inteligencia artificial?</a:t>
            </a:r>
          </a:p>
        </p:txBody>
      </p:sp>
      <p:sp>
        <p:nvSpPr>
          <p:cNvPr id="3" name="Marcador de contenido 2">
            <a:extLst>
              <a:ext uri="{FF2B5EF4-FFF2-40B4-BE49-F238E27FC236}">
                <a16:creationId xmlns:a16="http://schemas.microsoft.com/office/drawing/2014/main" id="{B96B8172-3C81-1EAB-BE88-079ED0F18044}"/>
              </a:ext>
            </a:extLst>
          </p:cNvPr>
          <p:cNvSpPr>
            <a:spLocks noGrp="1"/>
          </p:cNvSpPr>
          <p:nvPr>
            <p:ph idx="1"/>
          </p:nvPr>
        </p:nvSpPr>
        <p:spPr/>
        <p:txBody>
          <a:bodyPr/>
          <a:lstStyle/>
          <a:p>
            <a:pPr algn="just"/>
            <a:r>
              <a:rPr lang="es-ES"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La inteligencia artificial (IA) se refiere a la capacidad de las máquinas para realizar tareas que normalmente requieren de la inteligencia humana. En otras palabras, la IA busca desarrollar sistemas que puedan realizar funciones cognitivas como el aprendizaje, el razonamiento, la percepción y la resolución de problemas. El objetivo es crear máquinas capaces de imitar o replicar algunas de las funciones del pensamiento humano.</a:t>
            </a:r>
            <a:endParaRPr lang="es-MX"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1028" name="Picture 4" descr="Los desafíos educativos ante la Inteligencia Artificial">
            <a:extLst>
              <a:ext uri="{FF2B5EF4-FFF2-40B4-BE49-F238E27FC236}">
                <a16:creationId xmlns:a16="http://schemas.microsoft.com/office/drawing/2014/main" id="{71FC6CB7-346C-5872-599E-83E4964F3AB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826060" y="3717032"/>
            <a:ext cx="3491880" cy="2246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576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dirty="0"/>
              <a:t>Algunos Subconjuntos de la inteligencia Artificial.</a:t>
            </a:r>
          </a:p>
        </p:txBody>
      </p:sp>
      <p:sp>
        <p:nvSpPr>
          <p:cNvPr id="3" name="Marcador de contenido 2">
            <a:extLst>
              <a:ext uri="{FF2B5EF4-FFF2-40B4-BE49-F238E27FC236}">
                <a16:creationId xmlns:a16="http://schemas.microsoft.com/office/drawing/2014/main" id="{B96B8172-3C81-1EAB-BE88-079ED0F18044}"/>
              </a:ext>
            </a:extLst>
          </p:cNvPr>
          <p:cNvSpPr>
            <a:spLocks noGrp="1"/>
          </p:cNvSpPr>
          <p:nvPr>
            <p:ph idx="1"/>
          </p:nvPr>
        </p:nvSpPr>
        <p:spPr/>
        <p:txBody>
          <a:bodyPr/>
          <a:lstStyle/>
          <a:p>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Aprendizaje automático (Machine </a:t>
            </a:r>
            <a:r>
              <a:rPr lang="es-ES" b="1"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Learning</a:t>
            </a:r>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t>
            </a:r>
          </a:p>
          <a:p>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Redes neuronales artificiales</a:t>
            </a:r>
            <a:endParaRPr lang="es-ES"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Aprendizaje profundo (Deep </a:t>
            </a:r>
            <a:r>
              <a:rPr lang="es-ES" b="1"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Learning</a:t>
            </a:r>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t>
            </a:r>
            <a:endParaRPr lang="es-ES"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Procesamiento del lenguaje natural (NLP)</a:t>
            </a:r>
          </a:p>
          <a:p>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Visión por computadora</a:t>
            </a:r>
          </a:p>
          <a:p>
            <a:r>
              <a:rPr lang="es-ES"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Robótica</a:t>
            </a:r>
            <a:endParaRPr lang="es-MX"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2052" name="Picture 4" descr="Qué son redes neuronales artificiales? | RicardoGeek">
            <a:extLst>
              <a:ext uri="{FF2B5EF4-FFF2-40B4-BE49-F238E27FC236}">
                <a16:creationId xmlns:a16="http://schemas.microsoft.com/office/drawing/2014/main" id="{B9C5D82C-BDEC-73A9-EACA-4A07EA08FD4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3568" y="4063527"/>
            <a:ext cx="2136891" cy="150951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rocesamiento de Lenguaje Natural | by Diego Campos Sobrino | SoldAI |  Medium">
            <a:extLst>
              <a:ext uri="{FF2B5EF4-FFF2-40B4-BE49-F238E27FC236}">
                <a16:creationId xmlns:a16="http://schemas.microsoft.com/office/drawing/2014/main" id="{FF327C5D-C1FE-577D-4896-4E1DE354D66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91880" y="4063527"/>
            <a:ext cx="2376264" cy="152533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ntroducción a la visión por computadora: qué es y cómo funciona - Brita  Inteligencia Artificial">
            <a:extLst>
              <a:ext uri="{FF2B5EF4-FFF2-40B4-BE49-F238E27FC236}">
                <a16:creationId xmlns:a16="http://schemas.microsoft.com/office/drawing/2014/main" id="{5C7FEC53-1598-30B2-4EF3-454EDB48A852}"/>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404152" y="4063527"/>
            <a:ext cx="2514629" cy="1525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484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dirty="0"/>
              <a:t>¿Qué es el aprendizaje de maquina (ML)?</a:t>
            </a:r>
          </a:p>
        </p:txBody>
      </p:sp>
      <p:sp>
        <p:nvSpPr>
          <p:cNvPr id="3" name="Marcador de contenido 2">
            <a:extLst>
              <a:ext uri="{FF2B5EF4-FFF2-40B4-BE49-F238E27FC236}">
                <a16:creationId xmlns:a16="http://schemas.microsoft.com/office/drawing/2014/main" id="{B96B8172-3C81-1EAB-BE88-079ED0F18044}"/>
              </a:ext>
            </a:extLst>
          </p:cNvPr>
          <p:cNvSpPr>
            <a:spLocks noGrp="1"/>
          </p:cNvSpPr>
          <p:nvPr>
            <p:ph idx="1"/>
          </p:nvPr>
        </p:nvSpPr>
        <p:spPr/>
        <p:txBody>
          <a:bodyPr/>
          <a:lstStyle/>
          <a:p>
            <a:r>
              <a:rPr lang="es-ES" sz="2000" b="0" i="0" dirty="0">
                <a:effectLst/>
                <a:latin typeface="Calibri" panose="020F0502020204030204" pitchFamily="34" charset="0"/>
                <a:ea typeface="Calibri" panose="020F0502020204030204" pitchFamily="34" charset="0"/>
                <a:cs typeface="Calibri" panose="020F0502020204030204" pitchFamily="34" charset="0"/>
              </a:rPr>
              <a:t>Es una rama de la IA que se centra en desarrollar algoritmos y modelos que permitan a las máquinas aprender a partir de datos. Los sistemas de aprendizaje automático pueden mejorar su rendimiento en una tarea específica a medida que se les proporciona más información.</a:t>
            </a:r>
          </a:p>
          <a:p>
            <a:r>
              <a:rPr lang="es-ES" sz="2000" dirty="0">
                <a:latin typeface="Calibri" panose="020F0502020204030204" pitchFamily="34" charset="0"/>
                <a:ea typeface="Calibri" panose="020F0502020204030204" pitchFamily="34" charset="0"/>
                <a:cs typeface="Calibri" panose="020F0502020204030204" pitchFamily="34" charset="0"/>
              </a:rPr>
              <a:t>Los algoritmos se capacitan para encontrar patrones y correlaciones en grandes </a:t>
            </a:r>
            <a:r>
              <a:rPr lang="es-ES" sz="2000" dirty="0" err="1">
                <a:latin typeface="Calibri" panose="020F0502020204030204" pitchFamily="34" charset="0"/>
                <a:ea typeface="Calibri" panose="020F0502020204030204" pitchFamily="34" charset="0"/>
                <a:cs typeface="Calibri" panose="020F0502020204030204" pitchFamily="34" charset="0"/>
              </a:rPr>
              <a:t>datasets</a:t>
            </a:r>
            <a:r>
              <a:rPr lang="es-ES" sz="2000" dirty="0">
                <a:latin typeface="Calibri" panose="020F0502020204030204" pitchFamily="34" charset="0"/>
                <a:ea typeface="Calibri" panose="020F0502020204030204" pitchFamily="34" charset="0"/>
                <a:cs typeface="Calibri" panose="020F0502020204030204" pitchFamily="34" charset="0"/>
              </a:rPr>
              <a:t> y para tomar las mejores decisiones y previsiones basadas en ese análisis.</a:t>
            </a:r>
          </a:p>
          <a:p>
            <a:endParaRPr lang="es-MX" dirty="0"/>
          </a:p>
        </p:txBody>
      </p:sp>
      <p:pic>
        <p:nvPicPr>
          <p:cNvPr id="3074" name="Picture 2" descr="Cómo Funciona El Machine Learning En SEO">
            <a:extLst>
              <a:ext uri="{FF2B5EF4-FFF2-40B4-BE49-F238E27FC236}">
                <a16:creationId xmlns:a16="http://schemas.microsoft.com/office/drawing/2014/main" id="{990C5EE4-B83D-49B2-DD82-DFA7FA5BDD2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627784" y="3863181"/>
            <a:ext cx="4257798" cy="2516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426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dirty="0"/>
              <a:t>Aplicaciones de Machine </a:t>
            </a:r>
            <a:r>
              <a:rPr lang="es-MX" dirty="0" err="1"/>
              <a:t>Learning</a:t>
            </a:r>
            <a:endParaRPr lang="es-MX" dirty="0"/>
          </a:p>
        </p:txBody>
      </p:sp>
      <p:pic>
        <p:nvPicPr>
          <p:cNvPr id="4" name="Imagen 3">
            <a:extLst>
              <a:ext uri="{FF2B5EF4-FFF2-40B4-BE49-F238E27FC236}">
                <a16:creationId xmlns:a16="http://schemas.microsoft.com/office/drawing/2014/main" id="{55FF5883-A29E-05B7-04D7-F57CDF439758}"/>
              </a:ext>
            </a:extLst>
          </p:cNvPr>
          <p:cNvPicPr>
            <a:picLocks noChangeAspect="1"/>
          </p:cNvPicPr>
          <p:nvPr/>
        </p:nvPicPr>
        <p:blipFill>
          <a:blip r:embed="rId2"/>
          <a:stretch>
            <a:fillRect/>
          </a:stretch>
        </p:blipFill>
        <p:spPr>
          <a:xfrm>
            <a:off x="2162051" y="1772816"/>
            <a:ext cx="4819898" cy="4432528"/>
          </a:xfrm>
          <a:prstGeom prst="rect">
            <a:avLst/>
          </a:prstGeom>
        </p:spPr>
      </p:pic>
    </p:spTree>
    <p:extLst>
      <p:ext uri="{BB962C8B-B14F-4D97-AF65-F5344CB8AC3E}">
        <p14:creationId xmlns:p14="http://schemas.microsoft.com/office/powerpoint/2010/main" val="2890017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dirty="0"/>
              <a:t>Aprendizaje de Maquina o Inteligencia Artificial?</a:t>
            </a:r>
          </a:p>
        </p:txBody>
      </p:sp>
      <p:sp>
        <p:nvSpPr>
          <p:cNvPr id="3" name="Marcador de contenido 2">
            <a:extLst>
              <a:ext uri="{FF2B5EF4-FFF2-40B4-BE49-F238E27FC236}">
                <a16:creationId xmlns:a16="http://schemas.microsoft.com/office/drawing/2014/main" id="{B96B8172-3C81-1EAB-BE88-079ED0F18044}"/>
              </a:ext>
            </a:extLst>
          </p:cNvPr>
          <p:cNvSpPr>
            <a:spLocks noGrp="1"/>
          </p:cNvSpPr>
          <p:nvPr>
            <p:ph idx="1"/>
          </p:nvPr>
        </p:nvSpPr>
        <p:spPr/>
        <p:txBody>
          <a:bodyPr/>
          <a:lstStyle/>
          <a:p>
            <a:r>
              <a:rPr lang="es-ES" sz="2000" dirty="0">
                <a:latin typeface="Calibri" panose="020F0502020204030204" pitchFamily="34" charset="0"/>
                <a:ea typeface="Calibri" panose="020F0502020204030204" pitchFamily="34" charset="0"/>
                <a:cs typeface="Calibri" panose="020F0502020204030204" pitchFamily="34" charset="0"/>
              </a:rPr>
              <a:t>M</a:t>
            </a:r>
            <a:r>
              <a:rPr lang="es-ES" sz="2000" b="0" i="0" dirty="0">
                <a:effectLst/>
                <a:latin typeface="Calibri" panose="020F0502020204030204" pitchFamily="34" charset="0"/>
                <a:ea typeface="Calibri" panose="020F0502020204030204" pitchFamily="34" charset="0"/>
                <a:cs typeface="Calibri" panose="020F0502020204030204" pitchFamily="34" charset="0"/>
              </a:rPr>
              <a:t>ientras que la inteligencia artificial es un campo general que abarca la replicación de diversas capacidades humanas, el aprendizaje automático es una técnica específica dentro de la IA que se centra en la capacidad de las máquinas para aprender y mejorar a partir de datos. El aprendizaje automático es una herramienta clave utilizada en el desarrollo de sistemas de inteligencia artificial.</a:t>
            </a:r>
            <a:endParaRPr lang="es-MX" sz="2000"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4" name="Picture 2" descr="Difference between AI, ML and DL | Towards Data Science">
            <a:extLst>
              <a:ext uri="{FF2B5EF4-FFF2-40B4-BE49-F238E27FC236}">
                <a16:creationId xmlns:a16="http://schemas.microsoft.com/office/drawing/2014/main" id="{E11FE05F-1B64-C2ED-123F-2816A6E0183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47664" y="3708923"/>
            <a:ext cx="6580504" cy="244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386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a:xfrm>
            <a:off x="683568" y="260648"/>
            <a:ext cx="8003232" cy="998984"/>
          </a:xfrm>
        </p:spPr>
        <p:txBody>
          <a:bodyPr/>
          <a:lstStyle/>
          <a:p>
            <a:r>
              <a:rPr lang="es-MX" sz="2800" dirty="0"/>
              <a:t>¿Cual es la diferencia entre programación clásica y Machine </a:t>
            </a:r>
            <a:r>
              <a:rPr lang="es-MX" sz="2800" dirty="0" err="1"/>
              <a:t>Learning</a:t>
            </a:r>
            <a:r>
              <a:rPr lang="es-MX" sz="2800" dirty="0"/>
              <a:t>?</a:t>
            </a:r>
            <a:endParaRPr lang="es-MX" dirty="0"/>
          </a:p>
        </p:txBody>
      </p:sp>
      <p:pic>
        <p:nvPicPr>
          <p:cNvPr id="4" name="Marcador de contenido 3">
            <a:extLst>
              <a:ext uri="{FF2B5EF4-FFF2-40B4-BE49-F238E27FC236}">
                <a16:creationId xmlns:a16="http://schemas.microsoft.com/office/drawing/2014/main" id="{B364FBE4-25CB-05C5-BE55-A33BA38AF0CD}"/>
              </a:ext>
            </a:extLst>
          </p:cNvPr>
          <p:cNvPicPr>
            <a:picLocks noGrp="1" noChangeAspect="1"/>
          </p:cNvPicPr>
          <p:nvPr>
            <p:ph idx="1"/>
          </p:nvPr>
        </p:nvPicPr>
        <p:blipFill rotWithShape="1">
          <a:blip r:embed="rId2"/>
          <a:srcRect l="-322" t="11137" r="322" b="-1592"/>
          <a:stretch/>
        </p:blipFill>
        <p:spPr>
          <a:xfrm>
            <a:off x="463810" y="1628800"/>
            <a:ext cx="8210414" cy="4093915"/>
          </a:xfrm>
          <a:prstGeom prst="rect">
            <a:avLst/>
          </a:prstGeom>
        </p:spPr>
      </p:pic>
      <p:sp>
        <p:nvSpPr>
          <p:cNvPr id="6" name="CuadroTexto 5">
            <a:extLst>
              <a:ext uri="{FF2B5EF4-FFF2-40B4-BE49-F238E27FC236}">
                <a16:creationId xmlns:a16="http://schemas.microsoft.com/office/drawing/2014/main" id="{72D05221-9349-66BB-E121-A776994C6DBD}"/>
              </a:ext>
            </a:extLst>
          </p:cNvPr>
          <p:cNvSpPr txBox="1"/>
          <p:nvPr/>
        </p:nvSpPr>
        <p:spPr>
          <a:xfrm>
            <a:off x="102899" y="5722715"/>
            <a:ext cx="8932235" cy="584775"/>
          </a:xfrm>
          <a:prstGeom prst="rect">
            <a:avLst/>
          </a:prstGeom>
          <a:noFill/>
        </p:spPr>
        <p:txBody>
          <a:bodyPr wrap="square">
            <a:spAutoFit/>
          </a:bodyPr>
          <a:lstStyle/>
          <a:p>
            <a:r>
              <a:rPr lang="es-ES" sz="1600" dirty="0">
                <a:latin typeface="Calibri" panose="020F0502020204030204" pitchFamily="34" charset="0"/>
                <a:ea typeface="Calibri" panose="020F0502020204030204" pitchFamily="34" charset="0"/>
                <a:cs typeface="Calibri" panose="020F0502020204030204" pitchFamily="34" charset="0"/>
              </a:rPr>
              <a:t>En programación tradicional hay que formular y codificar manualmente las reglas, mientras que en Machine </a:t>
            </a:r>
            <a:r>
              <a:rPr lang="es-ES" sz="1600" dirty="0" err="1">
                <a:latin typeface="Calibri" panose="020F0502020204030204" pitchFamily="34" charset="0"/>
                <a:ea typeface="Calibri" panose="020F0502020204030204" pitchFamily="34" charset="0"/>
                <a:cs typeface="Calibri" panose="020F0502020204030204" pitchFamily="34" charset="0"/>
              </a:rPr>
              <a:t>Learning</a:t>
            </a:r>
            <a:r>
              <a:rPr lang="es-ES" sz="1600" dirty="0">
                <a:latin typeface="Calibri" panose="020F0502020204030204" pitchFamily="34" charset="0"/>
                <a:ea typeface="Calibri" panose="020F0502020204030204" pitchFamily="34" charset="0"/>
                <a:cs typeface="Calibri" panose="020F0502020204030204" pitchFamily="34" charset="0"/>
              </a:rPr>
              <a:t> los algoritmos formulan automáticamente las reglas a partir de los datos.</a:t>
            </a:r>
            <a:endParaRPr lang="es-MX"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2596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sz="3600" dirty="0"/>
              <a:t>Ejemplos de Problemas donde podemos usar ML</a:t>
            </a:r>
            <a:endParaRPr lang="es-MX" dirty="0"/>
          </a:p>
        </p:txBody>
      </p:sp>
      <p:sp>
        <p:nvSpPr>
          <p:cNvPr id="3" name="Marcador de contenido 2">
            <a:extLst>
              <a:ext uri="{FF2B5EF4-FFF2-40B4-BE49-F238E27FC236}">
                <a16:creationId xmlns:a16="http://schemas.microsoft.com/office/drawing/2014/main" id="{B96B8172-3C81-1EAB-BE88-079ED0F18044}"/>
              </a:ext>
            </a:extLst>
          </p:cNvPr>
          <p:cNvSpPr>
            <a:spLocks noGrp="1"/>
          </p:cNvSpPr>
          <p:nvPr>
            <p:ph idx="1"/>
          </p:nvPr>
        </p:nvSpPr>
        <p:spPr/>
        <p:txBody>
          <a:bodyPr/>
          <a:lstStyle/>
          <a:p>
            <a:r>
              <a:rPr lang="es-MX" sz="2000" dirty="0">
                <a:latin typeface="Calibri" panose="020F0502020204030204" pitchFamily="34" charset="0"/>
                <a:ea typeface="Calibri" panose="020F0502020204030204" pitchFamily="34" charset="0"/>
                <a:cs typeface="Calibri" panose="020F0502020204030204" pitchFamily="34" charset="0"/>
              </a:rPr>
              <a:t>1.- Un Banco necesita un sistema que decida si un cliente califica a un préstamo o a la emisión de una tarjeta de crédito. El banco cuenta con información histórica de clientes deudores que han representado un riesgo financiero. Con esta información se puede crear una maquina que aprenda de las características de estos clientes y así pueda diferenciarlos de aquellos que no representan un riesgo para el banco.</a:t>
            </a:r>
          </a:p>
          <a:p>
            <a:endParaRPr lang="es-MX" dirty="0"/>
          </a:p>
        </p:txBody>
      </p:sp>
      <p:pic>
        <p:nvPicPr>
          <p:cNvPr id="4" name="Picture 2" descr="El nuevo fraude por Internet con el que te vacían la tarjeta de crédito sin  que te des cuenta | Tecnología">
            <a:extLst>
              <a:ext uri="{FF2B5EF4-FFF2-40B4-BE49-F238E27FC236}">
                <a16:creationId xmlns:a16="http://schemas.microsoft.com/office/drawing/2014/main" id="{001D271C-8B29-B4A7-1405-3DFC8D7B9DB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843808" y="3717032"/>
            <a:ext cx="3295278" cy="2196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297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516E3B-A322-E859-8401-A4880FBB3EBB}"/>
              </a:ext>
            </a:extLst>
          </p:cNvPr>
          <p:cNvSpPr>
            <a:spLocks noGrp="1"/>
          </p:cNvSpPr>
          <p:nvPr>
            <p:ph type="title"/>
          </p:nvPr>
        </p:nvSpPr>
        <p:spPr/>
        <p:txBody>
          <a:bodyPr/>
          <a:lstStyle/>
          <a:p>
            <a:r>
              <a:rPr lang="es-MX" sz="3600" dirty="0"/>
              <a:t>Ejemplos de Problemas donde podemos usar ML</a:t>
            </a:r>
            <a:endParaRPr lang="es-MX" dirty="0"/>
          </a:p>
        </p:txBody>
      </p:sp>
      <p:sp>
        <p:nvSpPr>
          <p:cNvPr id="3" name="Marcador de contenido 2">
            <a:extLst>
              <a:ext uri="{FF2B5EF4-FFF2-40B4-BE49-F238E27FC236}">
                <a16:creationId xmlns:a16="http://schemas.microsoft.com/office/drawing/2014/main" id="{B96B8172-3C81-1EAB-BE88-079ED0F18044}"/>
              </a:ext>
            </a:extLst>
          </p:cNvPr>
          <p:cNvSpPr>
            <a:spLocks noGrp="1"/>
          </p:cNvSpPr>
          <p:nvPr>
            <p:ph idx="1"/>
          </p:nvPr>
        </p:nvSpPr>
        <p:spPr/>
        <p:txBody>
          <a:bodyPr/>
          <a:lstStyle/>
          <a:p>
            <a:pPr algn="just"/>
            <a:r>
              <a:rPr lang="es-MX" sz="2000" dirty="0">
                <a:latin typeface="Calibri" panose="020F0502020204030204" pitchFamily="34" charset="0"/>
                <a:ea typeface="Calibri" panose="020F0502020204030204" pitchFamily="34" charset="0"/>
                <a:cs typeface="Calibri" panose="020F0502020204030204" pitchFamily="34" charset="0"/>
              </a:rPr>
              <a:t>2.- Una Empresa necesita estimar el total de ventas que tendrán en algunos productos de su portafolio durante el siguiente año. Algunos de sus productos se venden más en algunos meses que otros y los precios de la competencia son clave en la demanda de los productos. Existen los registros de ventas mensuales de los anteriores 5 años para el portafolio. Se puede crear una maquina que aprenda de los años anteriores y estime cuales serán las ventas mensuales durante el siguiente año y como pueden cambiar estas con distintos precios del competidor</a:t>
            </a:r>
          </a:p>
          <a:p>
            <a:endParaRPr lang="es-MX" dirty="0"/>
          </a:p>
        </p:txBody>
      </p:sp>
      <p:pic>
        <p:nvPicPr>
          <p:cNvPr id="4" name="Picture 2" descr="Cómo incrementar las ventas: 5 estrategias | Salesforce LATAM">
            <a:extLst>
              <a:ext uri="{FF2B5EF4-FFF2-40B4-BE49-F238E27FC236}">
                <a16:creationId xmlns:a16="http://schemas.microsoft.com/office/drawing/2014/main" id="{1FBA508F-46DC-3D71-1AE6-DC16F4B535D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03848" y="4365104"/>
            <a:ext cx="2965054" cy="1667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294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sz="3600" dirty="0"/>
              <a:t>Ejemplos de Problemas que no necesitan ML</a:t>
            </a:r>
            <a:endParaRPr lang="es-MX" dirty="0"/>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pPr marL="0" indent="0">
              <a:buNone/>
            </a:pPr>
            <a:r>
              <a:rPr lang="es-MX" sz="1800" dirty="0">
                <a:latin typeface="Calibri" panose="020F0502020204030204" pitchFamily="34" charset="0"/>
                <a:ea typeface="Calibri" panose="020F0502020204030204" pitchFamily="34" charset="0"/>
                <a:cs typeface="Calibri" panose="020F0502020204030204" pitchFamily="34" charset="0"/>
              </a:rPr>
              <a:t>1.-</a:t>
            </a:r>
            <a:r>
              <a:rPr lang="es-ES" sz="1600" dirty="0">
                <a:solidFill>
                  <a:srgbClr val="000000"/>
                </a:solidFill>
                <a:latin typeface="Calibri" panose="020F0502020204030204" pitchFamily="34" charset="0"/>
                <a:ea typeface="Calibri" panose="020F0502020204030204" pitchFamily="34" charset="0"/>
                <a:cs typeface="Calibri" panose="020F0502020204030204" pitchFamily="34" charset="0"/>
              </a:rPr>
              <a:t> Un</a:t>
            </a:r>
            <a:r>
              <a:rPr lang="es-ES" sz="16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 empresa quiere calcular la cantidad total de impuestos que debe pagar al final del año fiscal. Para hacerlo, la empresa necesita recopilar los datos de sus gastos e ingresos, y seguir las reglas aplicables de agregación y segregación de impuestos correspondientes para calcular la cantidad adeudada.</a:t>
            </a:r>
          </a:p>
          <a:p>
            <a:pPr marL="0" indent="0">
              <a:buNone/>
            </a:pPr>
            <a:r>
              <a:rPr lang="es-ES" sz="1600" dirty="0">
                <a:solidFill>
                  <a:srgbClr val="000000"/>
                </a:solidFill>
                <a:latin typeface="Calibri" panose="020F0502020204030204" pitchFamily="34" charset="0"/>
                <a:ea typeface="Calibri" panose="020F0502020204030204" pitchFamily="34" charset="0"/>
                <a:cs typeface="Calibri" panose="020F0502020204030204" pitchFamily="34" charset="0"/>
              </a:rPr>
              <a:t>No se debería tener incertidumbre sobre las reglas aplicables a los gatos e ingresos necesarias para calcular los impuestos, por lo que no es necesario aplicar ML</a:t>
            </a:r>
          </a:p>
          <a:p>
            <a:pPr marL="0" indent="0">
              <a:buNone/>
            </a:pPr>
            <a:endParaRPr lang="es-E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s-ES" sz="1600" dirty="0">
                <a:solidFill>
                  <a:srgbClr val="000000"/>
                </a:solidFill>
                <a:latin typeface="Calibri" panose="020F0502020204030204" pitchFamily="34" charset="0"/>
                <a:ea typeface="Calibri" panose="020F0502020204030204" pitchFamily="34" charset="0"/>
                <a:cs typeface="Calibri" panose="020F0502020204030204" pitchFamily="34" charset="0"/>
              </a:rPr>
              <a:t>2.- Un</a:t>
            </a:r>
            <a:r>
              <a:rPr lang="es-ES" sz="16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 Tienda quiere recompensar a sus mejores vendedores. Para hacerlo necesitan analizar el total de sus ventas por mes, así como la calificación de atención al cliente que han recibido</a:t>
            </a:r>
            <a:r>
              <a:rPr lang="es-MX" sz="16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marL="0" indent="0">
              <a:buNone/>
            </a:pPr>
            <a:r>
              <a:rPr lang="es-MX" sz="1600" dirty="0">
                <a:solidFill>
                  <a:srgbClr val="000000"/>
                </a:solidFill>
                <a:latin typeface="Calibri" panose="020F0502020204030204" pitchFamily="34" charset="0"/>
                <a:ea typeface="Calibri" panose="020F0502020204030204" pitchFamily="34" charset="0"/>
                <a:cs typeface="Calibri" panose="020F0502020204030204" pitchFamily="34" charset="0"/>
              </a:rPr>
              <a:t>Al tener definidas las métricas que usa la empresa para medir el desempeño de sus vendedores no sería necesario aplicar ML</a:t>
            </a:r>
            <a:endParaRPr lang="es-ES" sz="16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7" name="Picture 4" descr="Programación por bloques | Argentina.gob.ar">
            <a:extLst>
              <a:ext uri="{FF2B5EF4-FFF2-40B4-BE49-F238E27FC236}">
                <a16:creationId xmlns:a16="http://schemas.microsoft.com/office/drawing/2014/main" id="{0D17FE3D-1F7C-C1EE-F6F6-47452B8D5B4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040600" y="4581128"/>
            <a:ext cx="3062800" cy="1700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970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TIPOS DE APRENDIZAJE EN ML</a:t>
            </a:r>
          </a:p>
        </p:txBody>
      </p:sp>
      <p:pic>
        <p:nvPicPr>
          <p:cNvPr id="4" name="Imagen 3">
            <a:extLst>
              <a:ext uri="{FF2B5EF4-FFF2-40B4-BE49-F238E27FC236}">
                <a16:creationId xmlns:a16="http://schemas.microsoft.com/office/drawing/2014/main" id="{7EA64658-44DC-D5E1-1A25-9BAC91AB431B}"/>
              </a:ext>
            </a:extLst>
          </p:cNvPr>
          <p:cNvPicPr>
            <a:picLocks noChangeAspect="1"/>
          </p:cNvPicPr>
          <p:nvPr/>
        </p:nvPicPr>
        <p:blipFill rotWithShape="1">
          <a:blip r:embed="rId2"/>
          <a:srcRect l="1106"/>
          <a:stretch/>
        </p:blipFill>
        <p:spPr>
          <a:xfrm>
            <a:off x="971600" y="1844824"/>
            <a:ext cx="7397942" cy="4146763"/>
          </a:xfrm>
          <a:prstGeom prst="rect">
            <a:avLst/>
          </a:prstGeom>
        </p:spPr>
      </p:pic>
    </p:spTree>
    <p:extLst>
      <p:ext uri="{BB962C8B-B14F-4D97-AF65-F5344CB8AC3E}">
        <p14:creationId xmlns:p14="http://schemas.microsoft.com/office/powerpoint/2010/main" val="2493753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APRENDIZAJE SUPERVISADO</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sz="2000" b="1" dirty="0">
                <a:latin typeface="Calibri" panose="020F0502020204030204" pitchFamily="34" charset="0"/>
                <a:ea typeface="Calibri" panose="020F0502020204030204" pitchFamily="34" charset="0"/>
                <a:cs typeface="Calibri" panose="020F0502020204030204" pitchFamily="34" charset="0"/>
              </a:rPr>
              <a:t>Aprendizaje Supervisado</a:t>
            </a:r>
            <a:r>
              <a:rPr lang="es-ES" sz="2000" dirty="0">
                <a:latin typeface="Calibri" panose="020F0502020204030204" pitchFamily="34" charset="0"/>
                <a:ea typeface="Calibri" panose="020F0502020204030204" pitchFamily="34" charset="0"/>
                <a:cs typeface="Calibri" panose="020F0502020204030204" pitchFamily="34" charset="0"/>
              </a:rPr>
              <a:t>: Es una técnica de Machine </a:t>
            </a:r>
            <a:r>
              <a:rPr lang="es-ES" sz="2000" dirty="0" err="1">
                <a:latin typeface="Calibri" panose="020F0502020204030204" pitchFamily="34" charset="0"/>
                <a:ea typeface="Calibri" panose="020F0502020204030204" pitchFamily="34" charset="0"/>
                <a:cs typeface="Calibri" panose="020F0502020204030204" pitchFamily="34" charset="0"/>
              </a:rPr>
              <a:t>Learning</a:t>
            </a:r>
            <a:r>
              <a:rPr lang="es-ES" sz="2000" dirty="0">
                <a:latin typeface="Calibri" panose="020F0502020204030204" pitchFamily="34" charset="0"/>
                <a:ea typeface="Calibri" panose="020F0502020204030204" pitchFamily="34" charset="0"/>
                <a:cs typeface="Calibri" panose="020F0502020204030204" pitchFamily="34" charset="0"/>
              </a:rPr>
              <a:t> que se utiliza para predecir un valor o resultado específico a partir de un conjunto de </a:t>
            </a:r>
            <a:r>
              <a:rPr lang="es-ES" sz="2000" dirty="0">
                <a:solidFill>
                  <a:srgbClr val="FF0000"/>
                </a:solidFill>
                <a:latin typeface="Calibri" panose="020F0502020204030204" pitchFamily="34" charset="0"/>
                <a:ea typeface="Calibri" panose="020F0502020204030204" pitchFamily="34" charset="0"/>
                <a:cs typeface="Calibri" panose="020F0502020204030204" pitchFamily="34" charset="0"/>
              </a:rPr>
              <a:t>datos etiquetados. </a:t>
            </a:r>
            <a:r>
              <a:rPr lang="es-ES" sz="2000" dirty="0">
                <a:latin typeface="Calibri" panose="020F0502020204030204" pitchFamily="34" charset="0"/>
                <a:ea typeface="Calibri" panose="020F0502020204030204" pitchFamily="34" charset="0"/>
                <a:cs typeface="Calibri" panose="020F0502020204030204" pitchFamily="34" charset="0"/>
              </a:rPr>
              <a:t>En este caso, el algoritmo recibe datos de entrada y las salidas deseadas correspondientes, y aprende a partir de estos ejemplos para hacer predicciones precisas en datos no vistos anteriormente. Formalmente, el aprendizaje supervisado busca aprender una función  𝑓 que mapee los datos de entrada  𝑋 a las salidas deseadas  𝑌</a:t>
            </a:r>
          </a:p>
          <a:p>
            <a:r>
              <a:rPr lang="es-ES" sz="2000" dirty="0">
                <a:latin typeface="Calibri" panose="020F0502020204030204" pitchFamily="34" charset="0"/>
                <a:ea typeface="Calibri" panose="020F0502020204030204" pitchFamily="34" charset="0"/>
                <a:cs typeface="Calibri" panose="020F0502020204030204" pitchFamily="34" charset="0"/>
              </a:rPr>
              <a:t>Los algoritmos pueden ser de</a:t>
            </a:r>
            <a:r>
              <a:rPr lang="es-ES" sz="2000" b="1" dirty="0">
                <a:latin typeface="Calibri" panose="020F0502020204030204" pitchFamily="34" charset="0"/>
                <a:ea typeface="Calibri" panose="020F0502020204030204" pitchFamily="34" charset="0"/>
                <a:cs typeface="Calibri" panose="020F0502020204030204" pitchFamily="34" charset="0"/>
              </a:rPr>
              <a:t> Regresión </a:t>
            </a:r>
            <a:r>
              <a:rPr lang="es-ES" sz="2000" dirty="0">
                <a:latin typeface="Calibri" panose="020F0502020204030204" pitchFamily="34" charset="0"/>
                <a:ea typeface="Calibri" panose="020F0502020204030204" pitchFamily="34" charset="0"/>
                <a:cs typeface="Calibri" panose="020F0502020204030204" pitchFamily="34" charset="0"/>
              </a:rPr>
              <a:t>(Estiman un numero Real) o </a:t>
            </a:r>
            <a:r>
              <a:rPr lang="es-ES" sz="2000" b="1" dirty="0">
                <a:latin typeface="Calibri" panose="020F0502020204030204" pitchFamily="34" charset="0"/>
                <a:ea typeface="Calibri" panose="020F0502020204030204" pitchFamily="34" charset="0"/>
                <a:cs typeface="Calibri" panose="020F0502020204030204" pitchFamily="34" charset="0"/>
              </a:rPr>
              <a:t>Clasificación</a:t>
            </a:r>
            <a:r>
              <a:rPr lang="es-ES" sz="2000" dirty="0">
                <a:latin typeface="Calibri" panose="020F0502020204030204" pitchFamily="34" charset="0"/>
                <a:ea typeface="Calibri" panose="020F0502020204030204" pitchFamily="34" charset="0"/>
                <a:cs typeface="Calibri" panose="020F0502020204030204" pitchFamily="34" charset="0"/>
              </a:rPr>
              <a:t> (Estiman una clase o </a:t>
            </a:r>
            <a:r>
              <a:rPr lang="es-ES" sz="2000" dirty="0" err="1">
                <a:latin typeface="Calibri" panose="020F0502020204030204" pitchFamily="34" charset="0"/>
                <a:ea typeface="Calibri" panose="020F0502020204030204" pitchFamily="34" charset="0"/>
                <a:cs typeface="Calibri" panose="020F0502020204030204" pitchFamily="34" charset="0"/>
              </a:rPr>
              <a:t>Categoria</a:t>
            </a:r>
            <a:r>
              <a:rPr lang="es-ES" sz="2000" dirty="0">
                <a:latin typeface="Calibri" panose="020F0502020204030204" pitchFamily="34" charset="0"/>
                <a:ea typeface="Calibri" panose="020F0502020204030204" pitchFamily="34" charset="0"/>
                <a:cs typeface="Calibri" panose="020F0502020204030204" pitchFamily="34" charset="0"/>
              </a:rPr>
              <a:t>)</a:t>
            </a:r>
            <a:endParaRPr lang="es-MX" sz="2000"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4" name="Imagen 3">
            <a:extLst>
              <a:ext uri="{FF2B5EF4-FFF2-40B4-BE49-F238E27FC236}">
                <a16:creationId xmlns:a16="http://schemas.microsoft.com/office/drawing/2014/main" id="{C325C941-E7D4-272A-83E2-9EB7A227B545}"/>
              </a:ext>
            </a:extLst>
          </p:cNvPr>
          <p:cNvPicPr>
            <a:picLocks noChangeAspect="1"/>
          </p:cNvPicPr>
          <p:nvPr/>
        </p:nvPicPr>
        <p:blipFill>
          <a:blip r:embed="rId2"/>
          <a:stretch>
            <a:fillRect/>
          </a:stretch>
        </p:blipFill>
        <p:spPr>
          <a:xfrm>
            <a:off x="2771800" y="4869160"/>
            <a:ext cx="3822896" cy="977950"/>
          </a:xfrm>
          <a:prstGeom prst="rect">
            <a:avLst/>
          </a:prstGeom>
        </p:spPr>
      </p:pic>
    </p:spTree>
    <p:extLst>
      <p:ext uri="{BB962C8B-B14F-4D97-AF65-F5344CB8AC3E}">
        <p14:creationId xmlns:p14="http://schemas.microsoft.com/office/powerpoint/2010/main" val="2692369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1B7A129-9C6F-CA22-5866-67366EB08718}"/>
              </a:ext>
            </a:extLst>
          </p:cNvPr>
          <p:cNvSpPr>
            <a:spLocks noGrp="1"/>
          </p:cNvSpPr>
          <p:nvPr>
            <p:ph type="title"/>
          </p:nvPr>
        </p:nvSpPr>
        <p:spPr>
          <a:xfrm>
            <a:off x="755576" y="-40453"/>
            <a:ext cx="2996456" cy="1341755"/>
          </a:xfrm>
        </p:spPr>
        <p:txBody>
          <a:bodyPr>
            <a:noAutofit/>
          </a:bodyPr>
          <a:lstStyle/>
          <a:p>
            <a:pPr algn="ctr"/>
            <a:r>
              <a:rPr lang="es-MX" sz="2800" dirty="0"/>
              <a:t>Aplicaciones de Aprendizaje supervisado.</a:t>
            </a:r>
          </a:p>
        </p:txBody>
      </p:sp>
      <p:sp>
        <p:nvSpPr>
          <p:cNvPr id="6" name="Título 1">
            <a:extLst>
              <a:ext uri="{FF2B5EF4-FFF2-40B4-BE49-F238E27FC236}">
                <a16:creationId xmlns:a16="http://schemas.microsoft.com/office/drawing/2014/main" id="{5E05A153-6D1E-9637-51A6-DB26501E6F85}"/>
              </a:ext>
            </a:extLst>
          </p:cNvPr>
          <p:cNvSpPr txBox="1">
            <a:spLocks/>
          </p:cNvSpPr>
          <p:nvPr/>
        </p:nvSpPr>
        <p:spPr>
          <a:xfrm>
            <a:off x="5093272" y="0"/>
            <a:ext cx="2996456" cy="1341755"/>
          </a:xfrm>
          <a:prstGeom prst="rect">
            <a:avLst/>
          </a:prstGeom>
        </p:spPr>
        <p:txBody>
          <a:bodyPr>
            <a:noAutofit/>
          </a:bodyPr>
          <a:lstStyle>
            <a:lvl1pPr algn="ctr" rtl="0" eaLnBrk="0" fontAlgn="base" hangingPunct="0">
              <a:spcBef>
                <a:spcPct val="0"/>
              </a:spcBef>
              <a:spcAft>
                <a:spcPct val="0"/>
              </a:spcAft>
              <a:defRPr lang="es-MX" sz="3600" kern="1200" dirty="0">
                <a:solidFill>
                  <a:srgbClr val="306E49"/>
                </a:solidFill>
                <a:latin typeface="Verdana" pitchFamily="34" charset="0"/>
                <a:ea typeface="+mn-ea"/>
                <a:cs typeface="+mn-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s-MX" sz="2800" dirty="0"/>
              <a:t>Modelos de Aprendizaje Supervisado</a:t>
            </a:r>
          </a:p>
        </p:txBody>
      </p:sp>
      <p:sp>
        <p:nvSpPr>
          <p:cNvPr id="7" name="Marcador de contenido 2">
            <a:extLst>
              <a:ext uri="{FF2B5EF4-FFF2-40B4-BE49-F238E27FC236}">
                <a16:creationId xmlns:a16="http://schemas.microsoft.com/office/drawing/2014/main" id="{EDAA6DD4-E594-CBB9-D515-93E3BC7E9819}"/>
              </a:ext>
            </a:extLst>
          </p:cNvPr>
          <p:cNvSpPr>
            <a:spLocks noGrp="1"/>
          </p:cNvSpPr>
          <p:nvPr>
            <p:ph idx="1"/>
          </p:nvPr>
        </p:nvSpPr>
        <p:spPr>
          <a:xfrm>
            <a:off x="179512" y="1846785"/>
            <a:ext cx="4617720" cy="1596549"/>
          </a:xfrm>
        </p:spPr>
        <p:txBody>
          <a:bodyPr>
            <a:normAutofit fontScale="85000" lnSpcReduction="20000"/>
          </a:bodyPr>
          <a:lstStyle/>
          <a:p>
            <a:r>
              <a:rPr lang="es-MX" sz="2000" dirty="0"/>
              <a:t>Estimar el precio futuro de una acción.</a:t>
            </a:r>
          </a:p>
          <a:p>
            <a:r>
              <a:rPr lang="es-MX" sz="2000" dirty="0"/>
              <a:t>Clasificación de </a:t>
            </a:r>
            <a:r>
              <a:rPr lang="es-MX" sz="2000" dirty="0" err="1"/>
              <a:t>Imagenes</a:t>
            </a:r>
            <a:r>
              <a:rPr lang="es-MX" sz="2000" dirty="0"/>
              <a:t>.</a:t>
            </a:r>
          </a:p>
          <a:p>
            <a:r>
              <a:rPr lang="es-MX" sz="2000" dirty="0"/>
              <a:t>Detección de Enfermedades</a:t>
            </a:r>
          </a:p>
          <a:p>
            <a:r>
              <a:rPr lang="es-MX" sz="2000" dirty="0"/>
              <a:t>Proyección de Inventarios.</a:t>
            </a:r>
          </a:p>
          <a:p>
            <a:r>
              <a:rPr lang="es-MX" sz="2000" dirty="0"/>
              <a:t>Elasticidad de Precios.</a:t>
            </a:r>
          </a:p>
        </p:txBody>
      </p:sp>
      <p:sp>
        <p:nvSpPr>
          <p:cNvPr id="8" name="Marcador de contenido 2">
            <a:extLst>
              <a:ext uri="{FF2B5EF4-FFF2-40B4-BE49-F238E27FC236}">
                <a16:creationId xmlns:a16="http://schemas.microsoft.com/office/drawing/2014/main" id="{261C22A5-D8E0-BDDA-A764-F0C394E112C8}"/>
              </a:ext>
            </a:extLst>
          </p:cNvPr>
          <p:cNvSpPr txBox="1">
            <a:spLocks/>
          </p:cNvSpPr>
          <p:nvPr/>
        </p:nvSpPr>
        <p:spPr>
          <a:xfrm>
            <a:off x="4074362" y="1829205"/>
            <a:ext cx="5034277" cy="15965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lgn="l">
              <a:buFont typeface="Arial" panose="020B0604020202020204" pitchFamily="34" charset="0"/>
              <a:buChar char="•"/>
            </a:pPr>
            <a:r>
              <a:rPr lang="es-ES" sz="1600" b="0" i="0" dirty="0">
                <a:solidFill>
                  <a:srgbClr val="000000"/>
                </a:solidFill>
                <a:effectLst/>
                <a:latin typeface="Helvetica Neue"/>
              </a:rPr>
              <a:t>Árboles de decisión (Clasificación y Regresión)</a:t>
            </a:r>
          </a:p>
          <a:p>
            <a:pPr marL="742950" lvl="1" indent="-285750" algn="l">
              <a:buFont typeface="Arial" panose="020B0604020202020204" pitchFamily="34" charset="0"/>
              <a:buChar char="•"/>
            </a:pPr>
            <a:r>
              <a:rPr lang="es-ES" sz="1600" b="0" i="0" dirty="0">
                <a:solidFill>
                  <a:srgbClr val="000000"/>
                </a:solidFill>
                <a:effectLst/>
                <a:latin typeface="Helvetica Neue"/>
              </a:rPr>
              <a:t>Regresión lineal (Regresión)</a:t>
            </a:r>
          </a:p>
          <a:p>
            <a:pPr marL="742950" lvl="1" indent="-285750" algn="l">
              <a:buFont typeface="Arial" panose="020B0604020202020204" pitchFamily="34" charset="0"/>
              <a:buChar char="•"/>
            </a:pPr>
            <a:r>
              <a:rPr lang="es-ES" sz="1600" b="0" i="0" dirty="0">
                <a:solidFill>
                  <a:srgbClr val="000000"/>
                </a:solidFill>
                <a:effectLst/>
                <a:latin typeface="Helvetica Neue"/>
              </a:rPr>
              <a:t>Regresión logística (Clasificación)</a:t>
            </a:r>
          </a:p>
          <a:p>
            <a:pPr marL="742950" lvl="1" indent="-285750"/>
            <a:r>
              <a:rPr lang="es-ES" sz="1600" b="0" i="0" dirty="0">
                <a:solidFill>
                  <a:srgbClr val="000000"/>
                </a:solidFill>
                <a:effectLst/>
                <a:latin typeface="Helvetica Neue"/>
              </a:rPr>
              <a:t>Máquinas de soporte vectorial (Clasificación y Regresión)</a:t>
            </a:r>
          </a:p>
          <a:p>
            <a:pPr marL="742950" lvl="1" indent="-285750" algn="l">
              <a:buFont typeface="Arial" panose="020B0604020202020204" pitchFamily="34" charset="0"/>
              <a:buChar char="•"/>
            </a:pPr>
            <a:endParaRPr lang="es-ES" sz="1600" b="0" i="0" dirty="0">
              <a:solidFill>
                <a:srgbClr val="000000"/>
              </a:solidFill>
              <a:effectLst/>
              <a:latin typeface="Helvetica Neue"/>
            </a:endParaRPr>
          </a:p>
        </p:txBody>
      </p:sp>
      <p:pic>
        <p:nvPicPr>
          <p:cNvPr id="9" name="Imagen 8">
            <a:extLst>
              <a:ext uri="{FF2B5EF4-FFF2-40B4-BE49-F238E27FC236}">
                <a16:creationId xmlns:a16="http://schemas.microsoft.com/office/drawing/2014/main" id="{32269EF4-FC63-54CD-2E0D-222D3A97C39A}"/>
              </a:ext>
            </a:extLst>
          </p:cNvPr>
          <p:cNvPicPr>
            <a:picLocks noChangeAspect="1"/>
          </p:cNvPicPr>
          <p:nvPr/>
        </p:nvPicPr>
        <p:blipFill>
          <a:blip r:embed="rId2"/>
          <a:stretch>
            <a:fillRect/>
          </a:stretch>
        </p:blipFill>
        <p:spPr>
          <a:xfrm>
            <a:off x="1475656" y="3573016"/>
            <a:ext cx="5816599" cy="2654559"/>
          </a:xfrm>
          <a:prstGeom prst="rect">
            <a:avLst/>
          </a:prstGeom>
        </p:spPr>
      </p:pic>
      <p:cxnSp>
        <p:nvCxnSpPr>
          <p:cNvPr id="10" name="Conector recto 9">
            <a:extLst>
              <a:ext uri="{FF2B5EF4-FFF2-40B4-BE49-F238E27FC236}">
                <a16:creationId xmlns:a16="http://schemas.microsoft.com/office/drawing/2014/main" id="{5C26166C-3B20-815E-3079-8C4061BDC302}"/>
              </a:ext>
            </a:extLst>
          </p:cNvPr>
          <p:cNvCxnSpPr>
            <a:cxnSpLocks/>
          </p:cNvCxnSpPr>
          <p:nvPr/>
        </p:nvCxnSpPr>
        <p:spPr>
          <a:xfrm>
            <a:off x="4283968" y="1846785"/>
            <a:ext cx="0" cy="12671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977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a:xfrm>
            <a:off x="457200" y="548680"/>
            <a:ext cx="8229600" cy="710952"/>
          </a:xfrm>
        </p:spPr>
        <p:txBody>
          <a:bodyPr/>
          <a:lstStyle/>
          <a:p>
            <a:r>
              <a:rPr lang="es-MX" dirty="0"/>
              <a:t>¿Qué es la clasificación?</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dirty="0">
                <a:latin typeface="Calibri" panose="020F0502020204030204" pitchFamily="34" charset="0"/>
                <a:ea typeface="Calibri" panose="020F0502020204030204" pitchFamily="34" charset="0"/>
                <a:cs typeface="Calibri" panose="020F0502020204030204" pitchFamily="34" charset="0"/>
              </a:rPr>
              <a:t>En la clasificación se tiene la tarea de asignar una clase, es decir predecir a qué clase pertenece un conjunto de datos, aquí es muy importante entender que en los problemas de clasificación los valores son discretos. </a:t>
            </a:r>
            <a:endParaRPr lang="es-MX"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4" name="Picture 4" descr="Qué es el Machine Learning? Usos y clasificación. | by Oscar Ardón | Medium">
            <a:extLst>
              <a:ext uri="{FF2B5EF4-FFF2-40B4-BE49-F238E27FC236}">
                <a16:creationId xmlns:a16="http://schemas.microsoft.com/office/drawing/2014/main" id="{B388D63B-EC6D-CC93-C394-15DCB4CCAB5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468880" y="3007453"/>
            <a:ext cx="4206240" cy="3154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969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¿Qué es la regresión?</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sz="2000" dirty="0">
                <a:latin typeface="Calibri" panose="020F0502020204030204" pitchFamily="34" charset="0"/>
                <a:ea typeface="Calibri" panose="020F0502020204030204" pitchFamily="34" charset="0"/>
                <a:cs typeface="Calibri" panose="020F0502020204030204" pitchFamily="34" charset="0"/>
              </a:rPr>
              <a:t>En el caso de los algoritmos de regresión, podemos decir que se trata de un subcampo del aprendizaje automático supervisado que tiene el fin de crear una metodología para relacionar un cierto número de características y una variable objetivo-continua. En otras palabras, buscamos estimar una variable continua (Valor numérico) con base en una o más variables</a:t>
            </a:r>
            <a:endParaRPr lang="es-MX" sz="2000"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4" name="Imagen 3">
            <a:extLst>
              <a:ext uri="{FF2B5EF4-FFF2-40B4-BE49-F238E27FC236}">
                <a16:creationId xmlns:a16="http://schemas.microsoft.com/office/drawing/2014/main" id="{DE16F4F2-7449-95E0-DEC4-A988D85E882D}"/>
              </a:ext>
            </a:extLst>
          </p:cNvPr>
          <p:cNvPicPr>
            <a:picLocks noChangeAspect="1"/>
          </p:cNvPicPr>
          <p:nvPr/>
        </p:nvPicPr>
        <p:blipFill>
          <a:blip r:embed="rId2"/>
          <a:stretch>
            <a:fillRect/>
          </a:stretch>
        </p:blipFill>
        <p:spPr>
          <a:xfrm>
            <a:off x="2627784" y="3454896"/>
            <a:ext cx="4213303" cy="2858713"/>
          </a:xfrm>
          <a:prstGeom prst="rect">
            <a:avLst/>
          </a:prstGeom>
        </p:spPr>
      </p:pic>
    </p:spTree>
    <p:extLst>
      <p:ext uri="{BB962C8B-B14F-4D97-AF65-F5344CB8AC3E}">
        <p14:creationId xmlns:p14="http://schemas.microsoft.com/office/powerpoint/2010/main" val="1997697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APRENDIZAJE NO SUPERVISADO</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sz="2000" b="1" dirty="0">
                <a:latin typeface="Calibri" panose="020F0502020204030204" pitchFamily="34" charset="0"/>
                <a:ea typeface="Calibri" panose="020F0502020204030204" pitchFamily="34" charset="0"/>
                <a:cs typeface="Calibri" panose="020F0502020204030204" pitchFamily="34" charset="0"/>
              </a:rPr>
              <a:t>Aprendizaje No Supervisado</a:t>
            </a:r>
            <a:r>
              <a:rPr lang="es-ES" sz="2000" dirty="0">
                <a:latin typeface="Calibri" panose="020F0502020204030204" pitchFamily="34" charset="0"/>
                <a:ea typeface="Calibri" panose="020F0502020204030204" pitchFamily="34" charset="0"/>
                <a:cs typeface="Calibri" panose="020F0502020204030204" pitchFamily="34" charset="0"/>
              </a:rPr>
              <a:t>: Es una técnica de Machine </a:t>
            </a:r>
            <a:r>
              <a:rPr lang="es-ES" sz="2000" dirty="0" err="1">
                <a:latin typeface="Calibri" panose="020F0502020204030204" pitchFamily="34" charset="0"/>
                <a:ea typeface="Calibri" panose="020F0502020204030204" pitchFamily="34" charset="0"/>
                <a:cs typeface="Calibri" panose="020F0502020204030204" pitchFamily="34" charset="0"/>
              </a:rPr>
              <a:t>Learning</a:t>
            </a:r>
            <a:r>
              <a:rPr lang="es-ES" sz="2000" dirty="0">
                <a:latin typeface="Calibri" panose="020F0502020204030204" pitchFamily="34" charset="0"/>
                <a:ea typeface="Calibri" panose="020F0502020204030204" pitchFamily="34" charset="0"/>
                <a:cs typeface="Calibri" panose="020F0502020204030204" pitchFamily="34" charset="0"/>
              </a:rPr>
              <a:t> que se utiliza para descubrir </a:t>
            </a:r>
            <a:r>
              <a:rPr lang="es-ES" sz="2000" dirty="0">
                <a:solidFill>
                  <a:srgbClr val="FF0000"/>
                </a:solidFill>
                <a:latin typeface="Calibri" panose="020F0502020204030204" pitchFamily="34" charset="0"/>
                <a:ea typeface="Calibri" panose="020F0502020204030204" pitchFamily="34" charset="0"/>
                <a:cs typeface="Calibri" panose="020F0502020204030204" pitchFamily="34" charset="0"/>
              </a:rPr>
              <a:t>patrones y relaciones </a:t>
            </a:r>
            <a:r>
              <a:rPr lang="es-ES" sz="2000" dirty="0">
                <a:latin typeface="Calibri" panose="020F0502020204030204" pitchFamily="34" charset="0"/>
                <a:ea typeface="Calibri" panose="020F0502020204030204" pitchFamily="34" charset="0"/>
                <a:cs typeface="Calibri" panose="020F0502020204030204" pitchFamily="34" charset="0"/>
              </a:rPr>
              <a:t>en los datos </a:t>
            </a:r>
            <a:r>
              <a:rPr lang="es-ES" sz="2000" dirty="0">
                <a:solidFill>
                  <a:srgbClr val="FF0000"/>
                </a:solidFill>
                <a:latin typeface="Calibri" panose="020F0502020204030204" pitchFamily="34" charset="0"/>
                <a:ea typeface="Calibri" panose="020F0502020204030204" pitchFamily="34" charset="0"/>
                <a:cs typeface="Calibri" panose="020F0502020204030204" pitchFamily="34" charset="0"/>
              </a:rPr>
              <a:t>sin un conjunto de datos etiquetados</a:t>
            </a:r>
            <a:r>
              <a:rPr lang="es-ES" sz="2000" dirty="0">
                <a:latin typeface="Calibri" panose="020F0502020204030204" pitchFamily="34" charset="0"/>
                <a:ea typeface="Calibri" panose="020F0502020204030204" pitchFamily="34" charset="0"/>
                <a:cs typeface="Calibri" panose="020F0502020204030204" pitchFamily="34" charset="0"/>
              </a:rPr>
              <a:t>. En este caso, el algoritmo recibe datos de entrada sin etiquetar y aprende a partir de ellos para identificar patrones o agrupamientos en los datos. Formalmente, el aprendizaje no supervisado busca encontrar una función  𝑓 que mapee los datos de entrada  𝑋 a una estructura de datos latente  𝑍. Uno de los principales tipos de problema en aprendizaje no supervisado es el de </a:t>
            </a:r>
            <a:r>
              <a:rPr lang="es-ES" sz="2000" b="1" dirty="0">
                <a:latin typeface="Calibri" panose="020F0502020204030204" pitchFamily="34" charset="0"/>
                <a:ea typeface="Calibri" panose="020F0502020204030204" pitchFamily="34" charset="0"/>
                <a:cs typeface="Calibri" panose="020F0502020204030204" pitchFamily="34" charset="0"/>
              </a:rPr>
              <a:t>Agrupación</a:t>
            </a:r>
          </a:p>
          <a:p>
            <a:endParaRPr lang="es-MX" dirty="0"/>
          </a:p>
        </p:txBody>
      </p:sp>
      <p:pic>
        <p:nvPicPr>
          <p:cNvPr id="4" name="Imagen 3">
            <a:extLst>
              <a:ext uri="{FF2B5EF4-FFF2-40B4-BE49-F238E27FC236}">
                <a16:creationId xmlns:a16="http://schemas.microsoft.com/office/drawing/2014/main" id="{A81BCDF8-D5E9-CB8B-D1FD-E7700908A71F}"/>
              </a:ext>
            </a:extLst>
          </p:cNvPr>
          <p:cNvPicPr>
            <a:picLocks noChangeAspect="1"/>
          </p:cNvPicPr>
          <p:nvPr/>
        </p:nvPicPr>
        <p:blipFill>
          <a:blip r:embed="rId2"/>
          <a:stretch>
            <a:fillRect/>
          </a:stretch>
        </p:blipFill>
        <p:spPr>
          <a:xfrm>
            <a:off x="2843808" y="4653346"/>
            <a:ext cx="3837443" cy="1440160"/>
          </a:xfrm>
          <a:prstGeom prst="rect">
            <a:avLst/>
          </a:prstGeom>
        </p:spPr>
      </p:pic>
    </p:spTree>
    <p:extLst>
      <p:ext uri="{BB962C8B-B14F-4D97-AF65-F5344CB8AC3E}">
        <p14:creationId xmlns:p14="http://schemas.microsoft.com/office/powerpoint/2010/main" val="632043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¿Qué es la Agrupación?</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dirty="0">
                <a:latin typeface="Calibri" panose="020F0502020204030204" pitchFamily="34" charset="0"/>
                <a:ea typeface="Calibri" panose="020F0502020204030204" pitchFamily="34" charset="0"/>
                <a:cs typeface="Calibri" panose="020F0502020204030204" pitchFamily="34" charset="0"/>
              </a:rPr>
              <a:t>El agrupamiento es una tarea de aprendizaje automático no supervisada. </a:t>
            </a:r>
          </a:p>
          <a:p>
            <a:r>
              <a:rPr lang="es-ES" dirty="0">
                <a:latin typeface="Calibri" panose="020F0502020204030204" pitchFamily="34" charset="0"/>
                <a:ea typeface="Calibri" panose="020F0502020204030204" pitchFamily="34" charset="0"/>
                <a:cs typeface="Calibri" panose="020F0502020204030204" pitchFamily="34" charset="0"/>
              </a:rPr>
              <a:t>El uso de un algoritmo de agrupamiento significa que le darás al algoritmo una gran cantidad de datos de entrada sin etiquetas y te permitirá encontrar cualquier agrupación en los datos que se pueda.</a:t>
            </a:r>
          </a:p>
          <a:p>
            <a:r>
              <a:rPr lang="es-ES" dirty="0">
                <a:latin typeface="Calibri" panose="020F0502020204030204" pitchFamily="34" charset="0"/>
                <a:ea typeface="Calibri" panose="020F0502020204030204" pitchFamily="34" charset="0"/>
                <a:cs typeface="Calibri" panose="020F0502020204030204" pitchFamily="34" charset="0"/>
              </a:rPr>
              <a:t>Esas agrupaciones se denominan grupo, este grupo de datos son similares entre sí en función de su relación con los datos circundantes. El agrupamiento se utiliza para el descubrimiento de patrones o características</a:t>
            </a:r>
            <a:endParaRPr lang="es-MX"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4" name="Picture 2" descr="Aplicaciones de aprendizaje automático en salud - ScienceDirect">
            <a:extLst>
              <a:ext uri="{FF2B5EF4-FFF2-40B4-BE49-F238E27FC236}">
                <a16:creationId xmlns:a16="http://schemas.microsoft.com/office/drawing/2014/main" id="{C33F5188-23B6-7EFF-0F17-5D13668646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809" t="16228" r="-161"/>
          <a:stretch/>
        </p:blipFill>
        <p:spPr bwMode="auto">
          <a:xfrm>
            <a:off x="2771800" y="4077072"/>
            <a:ext cx="3426466" cy="2177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242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B20E88E1-2735-C8DE-8772-C10AB8CC1B39}"/>
              </a:ext>
            </a:extLst>
          </p:cNvPr>
          <p:cNvSpPr txBox="1">
            <a:spLocks/>
          </p:cNvSpPr>
          <p:nvPr/>
        </p:nvSpPr>
        <p:spPr>
          <a:xfrm>
            <a:off x="395536" y="234473"/>
            <a:ext cx="3180184" cy="994728"/>
          </a:xfrm>
          <a:prstGeom prst="rect">
            <a:avLst/>
          </a:prstGeom>
        </p:spPr>
        <p:txBody>
          <a:bodyPr>
            <a:normAutofit fontScale="70000" lnSpcReduction="20000"/>
          </a:bodyPr>
          <a:lstStyle>
            <a:lvl1pPr algn="ctr" rtl="0" eaLnBrk="0" fontAlgn="base" hangingPunct="0">
              <a:spcBef>
                <a:spcPct val="0"/>
              </a:spcBef>
              <a:spcAft>
                <a:spcPct val="0"/>
              </a:spcAft>
              <a:defRPr lang="es-MX" sz="3600" kern="1200" dirty="0">
                <a:solidFill>
                  <a:srgbClr val="306E49"/>
                </a:solidFill>
                <a:latin typeface="Verdana" pitchFamily="34" charset="0"/>
                <a:ea typeface="+mn-ea"/>
                <a:cs typeface="+mn-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s-ES" sz="3200" dirty="0"/>
              <a:t>Aplicaciones de Aprendizaje no supervisado</a:t>
            </a:r>
            <a:r>
              <a:rPr lang="es-ES" dirty="0"/>
              <a:t>.</a:t>
            </a:r>
          </a:p>
        </p:txBody>
      </p:sp>
      <p:sp>
        <p:nvSpPr>
          <p:cNvPr id="6" name="Título 1">
            <a:extLst>
              <a:ext uri="{FF2B5EF4-FFF2-40B4-BE49-F238E27FC236}">
                <a16:creationId xmlns:a16="http://schemas.microsoft.com/office/drawing/2014/main" id="{B91EF8AC-4DC6-C4EF-7978-A87436668902}"/>
              </a:ext>
            </a:extLst>
          </p:cNvPr>
          <p:cNvSpPr txBox="1">
            <a:spLocks/>
          </p:cNvSpPr>
          <p:nvPr/>
        </p:nvSpPr>
        <p:spPr>
          <a:xfrm>
            <a:off x="4932040" y="131290"/>
            <a:ext cx="3159968" cy="1097911"/>
          </a:xfrm>
          <a:prstGeom prst="rect">
            <a:avLst/>
          </a:prstGeom>
        </p:spPr>
        <p:txBody>
          <a:bodyPr>
            <a:normAutofit/>
          </a:bodyPr>
          <a:lstStyle>
            <a:lvl1pPr algn="ctr" rtl="0" eaLnBrk="0" fontAlgn="base" hangingPunct="0">
              <a:spcBef>
                <a:spcPct val="0"/>
              </a:spcBef>
              <a:spcAft>
                <a:spcPct val="0"/>
              </a:spcAft>
              <a:defRPr lang="es-MX" sz="3600" kern="1200" dirty="0">
                <a:solidFill>
                  <a:srgbClr val="306E49"/>
                </a:solidFill>
                <a:latin typeface="Verdana" pitchFamily="34" charset="0"/>
                <a:ea typeface="+mn-ea"/>
                <a:cs typeface="+mn-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s-ES" sz="2000" dirty="0"/>
              <a:t>Modelos de Aprendizaje No Supervisado</a:t>
            </a:r>
            <a:endParaRPr lang="es-ES" sz="2400" dirty="0"/>
          </a:p>
        </p:txBody>
      </p:sp>
      <p:sp>
        <p:nvSpPr>
          <p:cNvPr id="7" name="Marcador de contenido 2">
            <a:extLst>
              <a:ext uri="{FF2B5EF4-FFF2-40B4-BE49-F238E27FC236}">
                <a16:creationId xmlns:a16="http://schemas.microsoft.com/office/drawing/2014/main" id="{ED848128-D33F-ACEF-A957-0BED4279D511}"/>
              </a:ext>
            </a:extLst>
          </p:cNvPr>
          <p:cNvSpPr>
            <a:spLocks noGrp="1"/>
          </p:cNvSpPr>
          <p:nvPr>
            <p:ph idx="1"/>
          </p:nvPr>
        </p:nvSpPr>
        <p:spPr>
          <a:xfrm>
            <a:off x="179512" y="1796548"/>
            <a:ext cx="3600400" cy="1596549"/>
          </a:xfrm>
        </p:spPr>
        <p:txBody>
          <a:bodyPr>
            <a:normAutofit fontScale="92500" lnSpcReduction="10000"/>
          </a:bodyPr>
          <a:lstStyle/>
          <a:p>
            <a:r>
              <a:rPr lang="es-MX" sz="2000" dirty="0">
                <a:latin typeface="Calibri" panose="020F0502020204030204" pitchFamily="34" charset="0"/>
                <a:ea typeface="Calibri" panose="020F0502020204030204" pitchFamily="34" charset="0"/>
                <a:cs typeface="Calibri" panose="020F0502020204030204" pitchFamily="34" charset="0"/>
              </a:rPr>
              <a:t>Patrones en Tickets de Compra.</a:t>
            </a:r>
          </a:p>
          <a:p>
            <a:r>
              <a:rPr lang="es-MX" sz="2000" dirty="0">
                <a:latin typeface="Calibri" panose="020F0502020204030204" pitchFamily="34" charset="0"/>
                <a:ea typeface="Calibri" panose="020F0502020204030204" pitchFamily="34" charset="0"/>
                <a:cs typeface="Calibri" panose="020F0502020204030204" pitchFamily="34" charset="0"/>
              </a:rPr>
              <a:t>Reducción de dimensión.</a:t>
            </a:r>
          </a:p>
          <a:p>
            <a:r>
              <a:rPr lang="es-MX" sz="2000" dirty="0">
                <a:latin typeface="Calibri" panose="020F0502020204030204" pitchFamily="34" charset="0"/>
                <a:ea typeface="Calibri" panose="020F0502020204030204" pitchFamily="34" charset="0"/>
                <a:cs typeface="Calibri" panose="020F0502020204030204" pitchFamily="34" charset="0"/>
              </a:rPr>
              <a:t>Segmentación de Clientes.</a:t>
            </a:r>
          </a:p>
          <a:p>
            <a:r>
              <a:rPr lang="es-MX" sz="2000" dirty="0">
                <a:latin typeface="Calibri" panose="020F0502020204030204" pitchFamily="34" charset="0"/>
                <a:ea typeface="Calibri" panose="020F0502020204030204" pitchFamily="34" charset="0"/>
                <a:cs typeface="Calibri" panose="020F0502020204030204" pitchFamily="34" charset="0"/>
              </a:rPr>
              <a:t>Detección de Anomalías.</a:t>
            </a:r>
          </a:p>
        </p:txBody>
      </p:sp>
      <p:sp>
        <p:nvSpPr>
          <p:cNvPr id="8" name="Marcador de contenido 2">
            <a:extLst>
              <a:ext uri="{FF2B5EF4-FFF2-40B4-BE49-F238E27FC236}">
                <a16:creationId xmlns:a16="http://schemas.microsoft.com/office/drawing/2014/main" id="{166B350C-473C-BED1-88FC-406020C25BCE}"/>
              </a:ext>
            </a:extLst>
          </p:cNvPr>
          <p:cNvSpPr txBox="1">
            <a:spLocks/>
          </p:cNvSpPr>
          <p:nvPr/>
        </p:nvSpPr>
        <p:spPr>
          <a:xfrm>
            <a:off x="4457021" y="1628800"/>
            <a:ext cx="4110005" cy="8403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r>
              <a:rPr lang="es-MX" sz="1600" dirty="0">
                <a:solidFill>
                  <a:srgbClr val="000000"/>
                </a:solidFill>
                <a:latin typeface="Helvetica Neue"/>
              </a:rPr>
              <a:t>Agrupamiento K-</a:t>
            </a:r>
            <a:r>
              <a:rPr lang="es-MX" sz="1600" dirty="0" err="1">
                <a:solidFill>
                  <a:srgbClr val="000000"/>
                </a:solidFill>
                <a:latin typeface="Helvetica Neue"/>
              </a:rPr>
              <a:t>means</a:t>
            </a:r>
            <a:r>
              <a:rPr lang="es-MX" sz="1600" dirty="0">
                <a:solidFill>
                  <a:srgbClr val="000000"/>
                </a:solidFill>
                <a:latin typeface="Helvetica Neue"/>
              </a:rPr>
              <a:t> (Identificador de Centros de Gravedad)</a:t>
            </a:r>
          </a:p>
          <a:p>
            <a:pPr marL="742950" lvl="1" indent="-285750"/>
            <a:r>
              <a:rPr lang="es-MX" sz="1600" dirty="0">
                <a:solidFill>
                  <a:srgbClr val="000000"/>
                </a:solidFill>
                <a:latin typeface="Helvetica Neue"/>
              </a:rPr>
              <a:t>Agrupamiento jerárquico (</a:t>
            </a:r>
            <a:r>
              <a:rPr lang="es-MX" sz="1600" dirty="0" err="1">
                <a:solidFill>
                  <a:srgbClr val="000000"/>
                </a:solidFill>
                <a:latin typeface="Helvetica Neue"/>
              </a:rPr>
              <a:t>Busqueda</a:t>
            </a:r>
            <a:r>
              <a:rPr lang="es-MX" sz="1600" dirty="0">
                <a:solidFill>
                  <a:srgbClr val="000000"/>
                </a:solidFill>
                <a:latin typeface="Helvetica Neue"/>
              </a:rPr>
              <a:t> iterativa de </a:t>
            </a:r>
            <a:r>
              <a:rPr lang="es-MX" sz="1600" dirty="0" err="1">
                <a:solidFill>
                  <a:srgbClr val="000000"/>
                </a:solidFill>
                <a:latin typeface="Helvetica Neue"/>
              </a:rPr>
              <a:t>clusters</a:t>
            </a:r>
            <a:r>
              <a:rPr lang="es-MX" sz="1600" dirty="0">
                <a:solidFill>
                  <a:srgbClr val="000000"/>
                </a:solidFill>
                <a:latin typeface="Helvetica Neue"/>
              </a:rPr>
              <a:t> similares)</a:t>
            </a:r>
          </a:p>
          <a:p>
            <a:pPr marL="742950" lvl="1" indent="-285750"/>
            <a:r>
              <a:rPr lang="es-MX" sz="1600" dirty="0">
                <a:solidFill>
                  <a:srgbClr val="000000"/>
                </a:solidFill>
                <a:latin typeface="Helvetica Neue"/>
              </a:rPr>
              <a:t>Análisis de componentes principales (PCA, por sus siglas en inglés)</a:t>
            </a:r>
          </a:p>
          <a:p>
            <a:pPr marL="742950" lvl="1" indent="-285750" algn="l">
              <a:buFont typeface="Arial" panose="020B0604020202020204" pitchFamily="34" charset="0"/>
              <a:buChar char="•"/>
            </a:pPr>
            <a:r>
              <a:rPr lang="es-ES" sz="1600" dirty="0">
                <a:solidFill>
                  <a:srgbClr val="000000"/>
                </a:solidFill>
                <a:latin typeface="Helvetica Neue"/>
              </a:rPr>
              <a:t>Reglas de Asociación (Algoritmo </a:t>
            </a:r>
            <a:r>
              <a:rPr lang="es-ES" sz="1600" dirty="0" err="1">
                <a:solidFill>
                  <a:srgbClr val="000000"/>
                </a:solidFill>
                <a:latin typeface="Helvetica Neue"/>
              </a:rPr>
              <a:t>Apriori</a:t>
            </a:r>
            <a:r>
              <a:rPr lang="es-ES" sz="1600" dirty="0">
                <a:solidFill>
                  <a:srgbClr val="000000"/>
                </a:solidFill>
                <a:latin typeface="Helvetica Neue"/>
              </a:rPr>
              <a:t>)</a:t>
            </a:r>
            <a:endParaRPr lang="es-ES" sz="1600" b="0" i="0" dirty="0">
              <a:solidFill>
                <a:srgbClr val="000000"/>
              </a:solidFill>
              <a:effectLst/>
              <a:latin typeface="Helvetica Neue"/>
            </a:endParaRPr>
          </a:p>
        </p:txBody>
      </p:sp>
      <p:pic>
        <p:nvPicPr>
          <p:cNvPr id="9" name="Picture 2" descr="Aprendizaje supervisado y No Supervisado">
            <a:extLst>
              <a:ext uri="{FF2B5EF4-FFF2-40B4-BE49-F238E27FC236}">
                <a16:creationId xmlns:a16="http://schemas.microsoft.com/office/drawing/2014/main" id="{258783D6-F492-7C79-1B81-4B6433EE560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39109" y="4388837"/>
            <a:ext cx="5665782" cy="195991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9">
            <a:extLst>
              <a:ext uri="{FF2B5EF4-FFF2-40B4-BE49-F238E27FC236}">
                <a16:creationId xmlns:a16="http://schemas.microsoft.com/office/drawing/2014/main" id="{E42A564A-5A4D-2C10-E22E-559066AAA8F6}"/>
              </a:ext>
            </a:extLst>
          </p:cNvPr>
          <p:cNvCxnSpPr>
            <a:cxnSpLocks/>
          </p:cNvCxnSpPr>
          <p:nvPr/>
        </p:nvCxnSpPr>
        <p:spPr>
          <a:xfrm>
            <a:off x="4283968" y="1846785"/>
            <a:ext cx="0" cy="25420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211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Comparación de tipos de Aprendizaje</a:t>
            </a:r>
          </a:p>
        </p:txBody>
      </p:sp>
      <p:pic>
        <p:nvPicPr>
          <p:cNvPr id="4" name="Picture 4" descr="Diferencia entre aprendizaje supervisado y no supervisado - Aprende IA">
            <a:extLst>
              <a:ext uri="{FF2B5EF4-FFF2-40B4-BE49-F238E27FC236}">
                <a16:creationId xmlns:a16="http://schemas.microsoft.com/office/drawing/2014/main" id="{C229845D-4551-56FC-DB43-BDB76B40B7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9636" y="2132856"/>
            <a:ext cx="7764727" cy="3654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563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sz="3600" dirty="0"/>
              <a:t>TIPOS DE APRENDIZAJE (PROBABILIDAD CONDICIONAL)</a:t>
            </a:r>
            <a:endParaRPr lang="es-MX" dirty="0"/>
          </a:p>
        </p:txBody>
      </p:sp>
      <p:pic>
        <p:nvPicPr>
          <p:cNvPr id="4" name="Picture 2" descr="Probabilidad y densidad condicional - YouTube">
            <a:extLst>
              <a:ext uri="{FF2B5EF4-FFF2-40B4-BE49-F238E27FC236}">
                <a16:creationId xmlns:a16="http://schemas.microsoft.com/office/drawing/2014/main" id="{E973FCE1-7A98-C9A8-E1E3-CB95D4FE31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52" t="29278" r="76141" b="54753"/>
          <a:stretch/>
        </p:blipFill>
        <p:spPr bwMode="auto">
          <a:xfrm>
            <a:off x="355431" y="3429000"/>
            <a:ext cx="3185725" cy="15379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Probabilidad y densidad condicional - YouTube">
            <a:extLst>
              <a:ext uri="{FF2B5EF4-FFF2-40B4-BE49-F238E27FC236}">
                <a16:creationId xmlns:a16="http://schemas.microsoft.com/office/drawing/2014/main" id="{8765C477-B991-37F3-568F-78273A202D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65" t="29467" r="32508" b="59316"/>
          <a:stretch/>
        </p:blipFill>
        <p:spPr bwMode="auto">
          <a:xfrm>
            <a:off x="4752196" y="3474832"/>
            <a:ext cx="4318861" cy="1158240"/>
          </a:xfrm>
          <a:prstGeom prst="rect">
            <a:avLst/>
          </a:prstGeom>
          <a:noFill/>
          <a:extLst>
            <a:ext uri="{909E8E84-426E-40DD-AFC4-6F175D3DCCD1}">
              <a14:hiddenFill xmlns:a14="http://schemas.microsoft.com/office/drawing/2010/main">
                <a:solidFill>
                  <a:srgbClr val="FFFFFF"/>
                </a:solidFill>
              </a14:hiddenFill>
            </a:ext>
          </a:extLst>
        </p:spPr>
      </p:pic>
      <p:sp>
        <p:nvSpPr>
          <p:cNvPr id="6" name="Flecha: a la derecha 5">
            <a:extLst>
              <a:ext uri="{FF2B5EF4-FFF2-40B4-BE49-F238E27FC236}">
                <a16:creationId xmlns:a16="http://schemas.microsoft.com/office/drawing/2014/main" id="{906A12B6-B224-3C51-4DC2-EB2003EC58E7}"/>
              </a:ext>
            </a:extLst>
          </p:cNvPr>
          <p:cNvSpPr/>
          <p:nvPr/>
        </p:nvSpPr>
        <p:spPr>
          <a:xfrm>
            <a:off x="3605966" y="381163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a:extLst>
              <a:ext uri="{FF2B5EF4-FFF2-40B4-BE49-F238E27FC236}">
                <a16:creationId xmlns:a16="http://schemas.microsoft.com/office/drawing/2014/main" id="{E33B433B-FA30-7915-0620-6D2743101CFB}"/>
              </a:ext>
            </a:extLst>
          </p:cNvPr>
          <p:cNvSpPr txBox="1"/>
          <p:nvPr/>
        </p:nvSpPr>
        <p:spPr>
          <a:xfrm>
            <a:off x="4355976" y="2150914"/>
            <a:ext cx="2830968" cy="369332"/>
          </a:xfrm>
          <a:prstGeom prst="rect">
            <a:avLst/>
          </a:prstGeom>
          <a:noFill/>
        </p:spPr>
        <p:txBody>
          <a:bodyPr wrap="none" rtlCol="0">
            <a:spAutoFit/>
          </a:bodyPr>
          <a:lstStyle/>
          <a:p>
            <a:r>
              <a:rPr lang="es-MX" dirty="0">
                <a:latin typeface="Calibri" panose="020F0502020204030204" pitchFamily="34" charset="0"/>
                <a:ea typeface="Calibri" panose="020F0502020204030204" pitchFamily="34" charset="0"/>
                <a:cs typeface="Calibri" panose="020F0502020204030204" pitchFamily="34" charset="0"/>
              </a:rPr>
              <a:t>APRENDIZAJE SUPERVISADO</a:t>
            </a:r>
          </a:p>
        </p:txBody>
      </p:sp>
      <p:sp>
        <p:nvSpPr>
          <p:cNvPr id="8" name="CuadroTexto 7">
            <a:extLst>
              <a:ext uri="{FF2B5EF4-FFF2-40B4-BE49-F238E27FC236}">
                <a16:creationId xmlns:a16="http://schemas.microsoft.com/office/drawing/2014/main" id="{D1B3989F-2C1F-6209-BA69-5BBBA732248D}"/>
              </a:ext>
            </a:extLst>
          </p:cNvPr>
          <p:cNvSpPr txBox="1"/>
          <p:nvPr/>
        </p:nvSpPr>
        <p:spPr>
          <a:xfrm>
            <a:off x="4995608" y="5805898"/>
            <a:ext cx="3185231" cy="369332"/>
          </a:xfrm>
          <a:prstGeom prst="rect">
            <a:avLst/>
          </a:prstGeom>
          <a:noFill/>
        </p:spPr>
        <p:txBody>
          <a:bodyPr wrap="none" rtlCol="0">
            <a:spAutoFit/>
          </a:bodyPr>
          <a:lstStyle/>
          <a:p>
            <a:r>
              <a:rPr lang="es-MX" dirty="0">
                <a:latin typeface="Calibri" panose="020F0502020204030204" pitchFamily="34" charset="0"/>
                <a:ea typeface="Calibri" panose="020F0502020204030204" pitchFamily="34" charset="0"/>
                <a:cs typeface="Calibri" panose="020F0502020204030204" pitchFamily="34" charset="0"/>
              </a:rPr>
              <a:t>APRENDIZAJE NO SUPERVISADO</a:t>
            </a:r>
          </a:p>
        </p:txBody>
      </p:sp>
      <p:cxnSp>
        <p:nvCxnSpPr>
          <p:cNvPr id="9" name="Conector recto de flecha 8">
            <a:extLst>
              <a:ext uri="{FF2B5EF4-FFF2-40B4-BE49-F238E27FC236}">
                <a16:creationId xmlns:a16="http://schemas.microsoft.com/office/drawing/2014/main" id="{44BF1EA2-9CE1-5B20-341F-73E3C5EA856D}"/>
              </a:ext>
            </a:extLst>
          </p:cNvPr>
          <p:cNvCxnSpPr>
            <a:cxnSpLocks/>
          </p:cNvCxnSpPr>
          <p:nvPr/>
        </p:nvCxnSpPr>
        <p:spPr>
          <a:xfrm flipV="1">
            <a:off x="5652120" y="2626360"/>
            <a:ext cx="0" cy="802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B0BBDD71-A60A-7320-682D-ECF7ACE9DE71}"/>
              </a:ext>
            </a:extLst>
          </p:cNvPr>
          <p:cNvCxnSpPr/>
          <p:nvPr/>
        </p:nvCxnSpPr>
        <p:spPr>
          <a:xfrm>
            <a:off x="6588224" y="4828325"/>
            <a:ext cx="0" cy="78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851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Otros tipos de Aprendizaje</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sz="2400" b="1" dirty="0">
                <a:latin typeface="Calibri" panose="020F0502020204030204" pitchFamily="34" charset="0"/>
                <a:ea typeface="Calibri" panose="020F0502020204030204" pitchFamily="34" charset="0"/>
                <a:cs typeface="Calibri" panose="020F0502020204030204" pitchFamily="34" charset="0"/>
              </a:rPr>
              <a:t>Aprendizaje Semi Supervisado</a:t>
            </a:r>
            <a:r>
              <a:rPr lang="es-ES" sz="2400" dirty="0">
                <a:latin typeface="Calibri" panose="020F0502020204030204" pitchFamily="34" charset="0"/>
                <a:ea typeface="Calibri" panose="020F0502020204030204" pitchFamily="34" charset="0"/>
                <a:cs typeface="Calibri" panose="020F0502020204030204" pitchFamily="34" charset="0"/>
              </a:rPr>
              <a:t>: </a:t>
            </a:r>
            <a:r>
              <a:rPr lang="es-ES" sz="2000" dirty="0">
                <a:latin typeface="Calibri" panose="020F0502020204030204" pitchFamily="34" charset="0"/>
                <a:ea typeface="Calibri" panose="020F0502020204030204" pitchFamily="34" charset="0"/>
                <a:cs typeface="Calibri" panose="020F0502020204030204" pitchFamily="34" charset="0"/>
              </a:rPr>
              <a:t>El aprendizaje semi supervisado se convierte en una solución viable cuando hay grandes cantidades de datos crudos y no estructurados. Este modelo consiste en:</a:t>
            </a:r>
          </a:p>
          <a:p>
            <a:pPr marL="0" indent="0">
              <a:buNone/>
            </a:pPr>
            <a:r>
              <a:rPr lang="es-ES" sz="2000" dirty="0">
                <a:latin typeface="Calibri" panose="020F0502020204030204" pitchFamily="34" charset="0"/>
                <a:ea typeface="Calibri" panose="020F0502020204030204" pitchFamily="34" charset="0"/>
                <a:cs typeface="Calibri" panose="020F0502020204030204" pitchFamily="34" charset="0"/>
              </a:rPr>
              <a:t> ● Introducir pequeñas cantidades de datos etiquetados para aumentar los </a:t>
            </a:r>
            <a:r>
              <a:rPr lang="es-ES" sz="2000" dirty="0" err="1">
                <a:latin typeface="Calibri" panose="020F0502020204030204" pitchFamily="34" charset="0"/>
                <a:ea typeface="Calibri" panose="020F0502020204030204" pitchFamily="34" charset="0"/>
                <a:cs typeface="Calibri" panose="020F0502020204030204" pitchFamily="34" charset="0"/>
              </a:rPr>
              <a:t>datasets</a:t>
            </a:r>
            <a:r>
              <a:rPr lang="es-ES" sz="2000" dirty="0">
                <a:latin typeface="Calibri" panose="020F0502020204030204" pitchFamily="34" charset="0"/>
                <a:ea typeface="Calibri" panose="020F0502020204030204" pitchFamily="34" charset="0"/>
                <a:cs typeface="Calibri" panose="020F0502020204030204" pitchFamily="34" charset="0"/>
              </a:rPr>
              <a:t> sin etiquetar.</a:t>
            </a:r>
          </a:p>
          <a:p>
            <a:pPr marL="0" indent="0">
              <a:buNone/>
            </a:pPr>
            <a:r>
              <a:rPr lang="es-ES" sz="2000" dirty="0">
                <a:latin typeface="Calibri" panose="020F0502020204030204" pitchFamily="34" charset="0"/>
                <a:ea typeface="Calibri" panose="020F0502020204030204" pitchFamily="34" charset="0"/>
                <a:cs typeface="Calibri" panose="020F0502020204030204" pitchFamily="34" charset="0"/>
              </a:rPr>
              <a:t> ● Instruye a la máquina para que analice los datos etiquetados según propiedades correlativas que podrían aplicarse a los datos no etiquetados.</a:t>
            </a:r>
          </a:p>
          <a:p>
            <a:pPr marL="0" indent="0">
              <a:buNone/>
            </a:pPr>
            <a:r>
              <a:rPr lang="es-ES" sz="2000" dirty="0">
                <a:latin typeface="Calibri" panose="020F0502020204030204" pitchFamily="34" charset="0"/>
                <a:ea typeface="Calibri" panose="020F0502020204030204" pitchFamily="34" charset="0"/>
                <a:cs typeface="Calibri" panose="020F0502020204030204" pitchFamily="34" charset="0"/>
              </a:rPr>
              <a:t>La detección de Fraudes es un problema que puede abordarse con Aprendizaje Semi Supervisado</a:t>
            </a:r>
            <a:endParaRPr lang="es-MX" sz="2000" dirty="0">
              <a:latin typeface="Calibri" panose="020F0502020204030204" pitchFamily="34" charset="0"/>
              <a:ea typeface="Calibri" panose="020F0502020204030204" pitchFamily="34" charset="0"/>
              <a:cs typeface="Calibri" panose="020F0502020204030204" pitchFamily="34" charset="0"/>
            </a:endParaRPr>
          </a:p>
          <a:p>
            <a:endParaRPr lang="es-MX" dirty="0"/>
          </a:p>
        </p:txBody>
      </p:sp>
      <p:pic>
        <p:nvPicPr>
          <p:cNvPr id="4" name="Imagen 3">
            <a:extLst>
              <a:ext uri="{FF2B5EF4-FFF2-40B4-BE49-F238E27FC236}">
                <a16:creationId xmlns:a16="http://schemas.microsoft.com/office/drawing/2014/main" id="{2A14ED44-8EEF-C1F2-F72D-23AE81F9E165}"/>
              </a:ext>
            </a:extLst>
          </p:cNvPr>
          <p:cNvPicPr>
            <a:picLocks noChangeAspect="1"/>
          </p:cNvPicPr>
          <p:nvPr/>
        </p:nvPicPr>
        <p:blipFill>
          <a:blip r:embed="rId2"/>
          <a:stretch>
            <a:fillRect/>
          </a:stretch>
        </p:blipFill>
        <p:spPr>
          <a:xfrm>
            <a:off x="3203848" y="4653136"/>
            <a:ext cx="3002964" cy="1730772"/>
          </a:xfrm>
          <a:prstGeom prst="rect">
            <a:avLst/>
          </a:prstGeom>
        </p:spPr>
      </p:pic>
    </p:spTree>
    <p:extLst>
      <p:ext uri="{BB962C8B-B14F-4D97-AF65-F5344CB8AC3E}">
        <p14:creationId xmlns:p14="http://schemas.microsoft.com/office/powerpoint/2010/main" val="2170347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Otros tipos de Aprendizaje</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ES" sz="2800" b="1" dirty="0">
                <a:latin typeface="Calibri" panose="020F0502020204030204" pitchFamily="34" charset="0"/>
                <a:ea typeface="Calibri" panose="020F0502020204030204" pitchFamily="34" charset="0"/>
                <a:cs typeface="Calibri" panose="020F0502020204030204" pitchFamily="34" charset="0"/>
              </a:rPr>
              <a:t>Aprendizaje Por Refuerzo</a:t>
            </a:r>
            <a:r>
              <a:rPr lang="es-ES" sz="2800" dirty="0">
                <a:latin typeface="Calibri" panose="020F0502020204030204" pitchFamily="34" charset="0"/>
                <a:ea typeface="Calibri" panose="020F0502020204030204" pitchFamily="34" charset="0"/>
                <a:cs typeface="Calibri" panose="020F0502020204030204" pitchFamily="34" charset="0"/>
              </a:rPr>
              <a:t>: </a:t>
            </a:r>
            <a:r>
              <a:rPr lang="es-ES" sz="1600" i="0" dirty="0">
                <a:effectLst/>
                <a:latin typeface="Calibri" panose="020F0502020204030204" pitchFamily="34" charset="0"/>
                <a:ea typeface="Calibri" panose="020F0502020204030204" pitchFamily="34" charset="0"/>
                <a:cs typeface="Calibri" panose="020F0502020204030204" pitchFamily="34" charset="0"/>
              </a:rPr>
              <a:t>es un paradigma dentro del campo del aprendizaje automático donde un agente aprende a tomar decisiones secuenciales mediante la interacción con un entorno. En el aprendizaje por refuerzo, el agente realiza acciones y recibe retroalimentación en forma de recompensas o castigos, lo que le permite aprender a tomar decisiones que maximicen la recompensa acumulada a lo largo del tiempo.</a:t>
            </a:r>
          </a:p>
          <a:p>
            <a:pPr algn="l"/>
            <a:r>
              <a:rPr lang="es-ES" sz="1600" b="1" i="0" dirty="0">
                <a:effectLst/>
                <a:latin typeface="Calibri" panose="020F0502020204030204" pitchFamily="34" charset="0"/>
                <a:ea typeface="Calibri" panose="020F0502020204030204" pitchFamily="34" charset="0"/>
                <a:cs typeface="Calibri" panose="020F0502020204030204" pitchFamily="34" charset="0"/>
              </a:rPr>
              <a:t>Aplicaciones del aprendizaje por refuerzo:</a:t>
            </a:r>
          </a:p>
          <a:p>
            <a:pPr algn="l">
              <a:buFont typeface="+mj-lt"/>
              <a:buAutoNum type="arabicPeriod"/>
            </a:pPr>
            <a:r>
              <a:rPr lang="es-ES" sz="1600" i="0" dirty="0">
                <a:effectLst/>
                <a:latin typeface="Calibri" panose="020F0502020204030204" pitchFamily="34" charset="0"/>
                <a:ea typeface="Calibri" panose="020F0502020204030204" pitchFamily="34" charset="0"/>
                <a:cs typeface="Calibri" panose="020F0502020204030204" pitchFamily="34" charset="0"/>
              </a:rPr>
              <a:t>Juegos.</a:t>
            </a:r>
          </a:p>
          <a:p>
            <a:pPr algn="l">
              <a:buFont typeface="+mj-lt"/>
              <a:buAutoNum type="arabicPeriod"/>
            </a:pPr>
            <a:r>
              <a:rPr lang="es-ES" sz="1600" i="0" dirty="0">
                <a:effectLst/>
                <a:latin typeface="Calibri" panose="020F0502020204030204" pitchFamily="34" charset="0"/>
                <a:ea typeface="Calibri" panose="020F0502020204030204" pitchFamily="34" charset="0"/>
                <a:cs typeface="Calibri" panose="020F0502020204030204" pitchFamily="34" charset="0"/>
              </a:rPr>
              <a:t>Robótica</a:t>
            </a:r>
          </a:p>
          <a:p>
            <a:pPr algn="l">
              <a:buFont typeface="+mj-lt"/>
              <a:buAutoNum type="arabicPeriod"/>
            </a:pPr>
            <a:r>
              <a:rPr lang="es-ES" sz="1600" i="0" dirty="0">
                <a:effectLst/>
                <a:latin typeface="Calibri" panose="020F0502020204030204" pitchFamily="34" charset="0"/>
                <a:ea typeface="Calibri" panose="020F0502020204030204" pitchFamily="34" charset="0"/>
                <a:cs typeface="Calibri" panose="020F0502020204030204" pitchFamily="34" charset="0"/>
              </a:rPr>
              <a:t>Asistentes virtuales y agentes conversacionales:</a:t>
            </a:r>
          </a:p>
          <a:p>
            <a:pPr algn="l"/>
            <a:r>
              <a:rPr lang="es-ES" sz="1600" b="1" i="0" dirty="0">
                <a:effectLst/>
                <a:latin typeface="Calibri" panose="020F0502020204030204" pitchFamily="34" charset="0"/>
                <a:ea typeface="Calibri" panose="020F0502020204030204" pitchFamily="34" charset="0"/>
                <a:cs typeface="Calibri" panose="020F0502020204030204" pitchFamily="34" charset="0"/>
              </a:rPr>
              <a:t>Modelos de aprendizaje por refuerzo:</a:t>
            </a:r>
          </a:p>
          <a:p>
            <a:pPr algn="l">
              <a:buFont typeface="+mj-lt"/>
              <a:buAutoNum type="arabicPeriod"/>
            </a:pPr>
            <a:r>
              <a:rPr lang="es-ES" sz="1600" i="0" dirty="0">
                <a:effectLst/>
                <a:latin typeface="Calibri" panose="020F0502020204030204" pitchFamily="34" charset="0"/>
                <a:ea typeface="Calibri" panose="020F0502020204030204" pitchFamily="34" charset="0"/>
                <a:cs typeface="Calibri" panose="020F0502020204030204" pitchFamily="34" charset="0"/>
              </a:rPr>
              <a:t>Q-</a:t>
            </a:r>
            <a:r>
              <a:rPr lang="es-ES" sz="1600" i="0" dirty="0" err="1">
                <a:effectLst/>
                <a:latin typeface="Calibri" panose="020F0502020204030204" pitchFamily="34" charset="0"/>
                <a:ea typeface="Calibri" panose="020F0502020204030204" pitchFamily="34" charset="0"/>
                <a:cs typeface="Calibri" panose="020F0502020204030204" pitchFamily="34" charset="0"/>
              </a:rPr>
              <a:t>Learning</a:t>
            </a:r>
            <a:r>
              <a:rPr lang="es-ES" sz="160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mj-lt"/>
              <a:buAutoNum type="arabicPeriod"/>
            </a:pPr>
            <a:r>
              <a:rPr lang="es-ES" sz="1600" i="0" dirty="0">
                <a:effectLst/>
                <a:latin typeface="Calibri" panose="020F0502020204030204" pitchFamily="34" charset="0"/>
                <a:ea typeface="Calibri" panose="020F0502020204030204" pitchFamily="34" charset="0"/>
                <a:cs typeface="Calibri" panose="020F0502020204030204" pitchFamily="34" charset="0"/>
              </a:rPr>
              <a:t>Deep Q Network (DQN): </a:t>
            </a:r>
          </a:p>
          <a:p>
            <a:pPr algn="l">
              <a:buFont typeface="+mj-lt"/>
              <a:buAutoNum type="arabicPeriod"/>
            </a:pPr>
            <a:r>
              <a:rPr lang="es-ES" sz="1600" i="0" dirty="0">
                <a:effectLst/>
                <a:latin typeface="Calibri" panose="020F0502020204030204" pitchFamily="34" charset="0"/>
                <a:ea typeface="Calibri" panose="020F0502020204030204" pitchFamily="34" charset="0"/>
                <a:cs typeface="Calibri" panose="020F0502020204030204" pitchFamily="34" charset="0"/>
              </a:rPr>
              <a:t>Actor-</a:t>
            </a:r>
            <a:r>
              <a:rPr lang="es-ES" sz="1600" i="0" dirty="0" err="1">
                <a:effectLst/>
                <a:latin typeface="Calibri" panose="020F0502020204030204" pitchFamily="34" charset="0"/>
                <a:ea typeface="Calibri" panose="020F0502020204030204" pitchFamily="34" charset="0"/>
                <a:cs typeface="Calibri" panose="020F0502020204030204" pitchFamily="34" charset="0"/>
              </a:rPr>
              <a:t>Critic</a:t>
            </a:r>
            <a:endParaRPr lang="es-MX" sz="16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4" descr="Aprendizaje por refuerzo - Wikipedia, la enciclopedia libre">
            <a:extLst>
              <a:ext uri="{FF2B5EF4-FFF2-40B4-BE49-F238E27FC236}">
                <a16:creationId xmlns:a16="http://schemas.microsoft.com/office/drawing/2014/main" id="{9EC328BD-908D-59AC-1F11-402CF49A11F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04048" y="3102997"/>
            <a:ext cx="3130064" cy="302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348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Regresión lineal simple</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MX" dirty="0"/>
              <a:t>Consultar Notebook Regresión lineal Simple</a:t>
            </a:r>
          </a:p>
        </p:txBody>
      </p:sp>
    </p:spTree>
    <p:extLst>
      <p:ext uri="{BB962C8B-B14F-4D97-AF65-F5344CB8AC3E}">
        <p14:creationId xmlns:p14="http://schemas.microsoft.com/office/powerpoint/2010/main" val="3946858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Conjuntos de entrenamiento y prueba</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MX" sz="1600" dirty="0">
                <a:latin typeface="Calibri" panose="020F0502020204030204" pitchFamily="34" charset="0"/>
                <a:ea typeface="Calibri" panose="020F0502020204030204" pitchFamily="34" charset="0"/>
                <a:cs typeface="Calibri" panose="020F0502020204030204" pitchFamily="34" charset="0"/>
              </a:rPr>
              <a:t>En el anterior Notebook ajustamos un primer modelo de Regresión Lineal Simple. Para Ajustar el Modelo utilizamos todos los datos disponibles, sin embargo en Machine </a:t>
            </a:r>
            <a:r>
              <a:rPr lang="es-MX" sz="1600" dirty="0" err="1">
                <a:latin typeface="Calibri" panose="020F0502020204030204" pitchFamily="34" charset="0"/>
                <a:ea typeface="Calibri" panose="020F0502020204030204" pitchFamily="34" charset="0"/>
                <a:cs typeface="Calibri" panose="020F0502020204030204" pitchFamily="34" charset="0"/>
              </a:rPr>
              <a:t>Learning</a:t>
            </a:r>
            <a:r>
              <a:rPr lang="es-MX" sz="1600" dirty="0">
                <a:latin typeface="Calibri" panose="020F0502020204030204" pitchFamily="34" charset="0"/>
                <a:ea typeface="Calibri" panose="020F0502020204030204" pitchFamily="34" charset="0"/>
                <a:cs typeface="Calibri" panose="020F0502020204030204" pitchFamily="34" charset="0"/>
              </a:rPr>
              <a:t> para entrenar un modelo dividimos la totalidad de los datos en dos conjuntos:</a:t>
            </a:r>
          </a:p>
          <a:p>
            <a:r>
              <a:rPr lang="es-ES" sz="1600" b="1" dirty="0">
                <a:latin typeface="Calibri" panose="020F0502020204030204" pitchFamily="34" charset="0"/>
                <a:ea typeface="Calibri" panose="020F0502020204030204" pitchFamily="34" charset="0"/>
                <a:cs typeface="Calibri" panose="020F0502020204030204" pitchFamily="34" charset="0"/>
              </a:rPr>
              <a:t>Conjunto de Entrenamiento: </a:t>
            </a:r>
            <a:r>
              <a:rPr lang="es-ES" sz="1600" dirty="0">
                <a:latin typeface="Calibri" panose="020F0502020204030204" pitchFamily="34" charset="0"/>
                <a:ea typeface="Calibri" panose="020F0502020204030204" pitchFamily="34" charset="0"/>
                <a:cs typeface="Calibri" panose="020F0502020204030204" pitchFamily="34" charset="0"/>
              </a:rPr>
              <a:t>Se utiliza para entrenar el modelo, es decir, para ajustar los parámetros del modelo de manera que pueda hacer predicciones precisas. Normalmente, el conjunto de entrenamiento es más grande que el conjunto de prueba (70%), ya que el modelo necesita suficientes datos para aprender patrones de manera efectiva.</a:t>
            </a:r>
          </a:p>
          <a:p>
            <a:r>
              <a:rPr lang="es-ES" sz="1600" b="1" dirty="0">
                <a:latin typeface="Calibri" panose="020F0502020204030204" pitchFamily="34" charset="0"/>
                <a:ea typeface="Calibri" panose="020F0502020204030204" pitchFamily="34" charset="0"/>
                <a:cs typeface="Calibri" panose="020F0502020204030204" pitchFamily="34" charset="0"/>
              </a:rPr>
              <a:t>Conjunto de Prueba: </a:t>
            </a:r>
            <a:r>
              <a:rPr lang="es-ES" sz="1600" dirty="0">
                <a:latin typeface="Calibri" panose="020F0502020204030204" pitchFamily="34" charset="0"/>
                <a:ea typeface="Calibri" panose="020F0502020204030204" pitchFamily="34" charset="0"/>
                <a:cs typeface="Calibri" panose="020F0502020204030204" pitchFamily="34" charset="0"/>
              </a:rPr>
              <a:t>Se utiliza para evaluar el rendimiento del modelo después de haber sido entrenado. Permite estimar cómo se comportará el modelo con datos que no ha visto durante el entrenamiento. Por lo general, es más pequeño que el conjunto de entrenamiento (30%), pero debe ser lo suficientemente grande como para proporcionar una evaluación significativa del rendimiento del modelo.</a:t>
            </a:r>
          </a:p>
        </p:txBody>
      </p:sp>
      <p:pic>
        <p:nvPicPr>
          <p:cNvPr id="4" name="Picture 2" descr="Train and Test Set in Python Machine Learning - How to Split - DataFlair">
            <a:extLst>
              <a:ext uri="{FF2B5EF4-FFF2-40B4-BE49-F238E27FC236}">
                <a16:creationId xmlns:a16="http://schemas.microsoft.com/office/drawing/2014/main" id="{DBEFAEC8-2748-15CD-DA6E-772992C52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4797152"/>
            <a:ext cx="3909824" cy="1524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772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err="1"/>
              <a:t>Overfitting</a:t>
            </a:r>
            <a:r>
              <a:rPr lang="es-MX" dirty="0"/>
              <a:t> y </a:t>
            </a:r>
            <a:r>
              <a:rPr lang="es-MX" dirty="0" err="1"/>
              <a:t>Underfitting</a:t>
            </a:r>
            <a:endParaRPr lang="es-MX" dirty="0"/>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pPr algn="just"/>
            <a:r>
              <a:rPr lang="es-E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El </a:t>
            </a:r>
            <a:r>
              <a:rPr lang="es-ES" sz="2000" b="1"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Overfitting</a:t>
            </a:r>
            <a:r>
              <a:rPr lang="es-E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y el </a:t>
            </a:r>
            <a:r>
              <a:rPr lang="es-ES" sz="2000" b="1"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Underfitting</a:t>
            </a:r>
            <a:r>
              <a:rPr lang="es-E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son dos problemas comunes que pueden surgir en el proceso de entrenamiento de modelos de Machine </a:t>
            </a:r>
            <a:r>
              <a:rPr lang="es-ES" sz="2000" b="0"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Learning</a:t>
            </a:r>
            <a:r>
              <a:rPr lang="es-E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just">
              <a:buFont typeface="+mj-lt"/>
              <a:buAutoNum type="arabicPeriod"/>
            </a:pPr>
            <a:r>
              <a:rPr lang="es-ES" sz="2000" b="1"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Overfitting</a:t>
            </a:r>
            <a:r>
              <a:rPr lang="es-E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Ocurre cuando un modelo es demasiado complejo para los datos de entrenamiento y ajusta los datos de entrenamiento con demasiado detalle. </a:t>
            </a:r>
          </a:p>
          <a:p>
            <a:pPr algn="just">
              <a:buFont typeface="+mj-lt"/>
              <a:buAutoNum type="arabicPeriod"/>
            </a:pPr>
            <a:r>
              <a:rPr lang="es-ES" sz="2000" b="1" i="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Underfitting</a:t>
            </a:r>
            <a:r>
              <a:rPr lang="es-ES" sz="20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Ocurre cuando un modelo es demasiado simple para los datos de entrenamiento y no puede capturar las relaciones subyacentes entre las variables. </a:t>
            </a:r>
            <a:endParaRPr lang="es-MX"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2" descr="What is underfitting and overfitting in machine learning and how to deal  with it. | by Anup Bhande | GreyAtom | Medium">
            <a:extLst>
              <a:ext uri="{FF2B5EF4-FFF2-40B4-BE49-F238E27FC236}">
                <a16:creationId xmlns:a16="http://schemas.microsoft.com/office/drawing/2014/main" id="{9BD38CAF-C36C-2098-7C7D-191FDBB35D4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31640" y="4226328"/>
            <a:ext cx="6672835" cy="2062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714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Cómo solucionar el </a:t>
            </a:r>
            <a:r>
              <a:rPr lang="es-MX" dirty="0" err="1"/>
              <a:t>overfitting</a:t>
            </a:r>
            <a:r>
              <a:rPr lang="es-MX" dirty="0"/>
              <a:t> y </a:t>
            </a:r>
            <a:r>
              <a:rPr lang="es-MX" dirty="0" err="1"/>
              <a:t>underfitting</a:t>
            </a:r>
            <a:endParaRPr lang="es-MX" dirty="0"/>
          </a:p>
        </p:txBody>
      </p:sp>
      <p:sp>
        <p:nvSpPr>
          <p:cNvPr id="4" name="Marcador de contenido 2">
            <a:extLst>
              <a:ext uri="{FF2B5EF4-FFF2-40B4-BE49-F238E27FC236}">
                <a16:creationId xmlns:a16="http://schemas.microsoft.com/office/drawing/2014/main" id="{55B2585E-6602-BCE4-CC2C-BB3612AC5587}"/>
              </a:ext>
            </a:extLst>
          </p:cNvPr>
          <p:cNvSpPr>
            <a:spLocks noGrp="1"/>
          </p:cNvSpPr>
          <p:nvPr>
            <p:ph idx="1"/>
          </p:nvPr>
        </p:nvSpPr>
        <p:spPr>
          <a:xfrm>
            <a:off x="286647" y="1557482"/>
            <a:ext cx="4285353" cy="4895854"/>
          </a:xfrm>
        </p:spPr>
        <p:txBody>
          <a:bodyPr>
            <a:normAutofit fontScale="47500" lnSpcReduction="20000"/>
          </a:bodyPr>
          <a:lstStyle/>
          <a:p>
            <a:pPr algn="l"/>
            <a:r>
              <a:rPr lang="es-ES" sz="3400" b="1" i="0" dirty="0">
                <a:effectLst/>
                <a:latin typeface="Calibri" panose="020F0502020204030204" pitchFamily="34" charset="0"/>
                <a:ea typeface="Calibri" panose="020F0502020204030204" pitchFamily="34" charset="0"/>
                <a:cs typeface="Calibri" panose="020F0502020204030204" pitchFamily="34" charset="0"/>
              </a:rPr>
              <a:t>Sobreajuste (</a:t>
            </a:r>
            <a:r>
              <a:rPr lang="es-ES" sz="3400" b="1" i="0" dirty="0" err="1">
                <a:effectLst/>
                <a:latin typeface="Calibri" panose="020F0502020204030204" pitchFamily="34" charset="0"/>
                <a:ea typeface="Calibri" panose="020F0502020204030204" pitchFamily="34" charset="0"/>
                <a:cs typeface="Calibri" panose="020F0502020204030204" pitchFamily="34" charset="0"/>
              </a:rPr>
              <a:t>Overfitting</a:t>
            </a:r>
            <a:r>
              <a:rPr lang="es-ES" sz="3400" b="1"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mj-lt"/>
              <a:buAutoNum type="arabicPeriod"/>
            </a:pPr>
            <a:r>
              <a:rPr lang="es-ES" sz="34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Conjunto de Validación:</a:t>
            </a:r>
            <a:endPar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Divide tus datos en tres conjuntos: entrenamiento, validación y prueba.</a:t>
            </a:r>
          </a:p>
          <a:p>
            <a:pPr marL="742950" lvl="1" indent="-285750" algn="l">
              <a:buFont typeface="+mj-lt"/>
              <a:buAutoNum type="arabicPeriod"/>
            </a:pPr>
            <a:r>
              <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Utiliza el conjunto de validación para ajustar los </a:t>
            </a:r>
            <a:r>
              <a:rPr lang="es-ES" sz="3400" b="0"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hiperparámetros</a:t>
            </a:r>
            <a:r>
              <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del modelo y evaluar su rendimiento sin tocar el conjunto de prueba hasta el final.</a:t>
            </a:r>
          </a:p>
          <a:p>
            <a:pPr algn="l">
              <a:buFont typeface="+mj-lt"/>
              <a:buAutoNum type="arabicPeriod"/>
            </a:pPr>
            <a:r>
              <a:rPr lang="es-ES" sz="34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Regularización:</a:t>
            </a:r>
            <a:endPar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Aplica técnicas de regularización como L1 o L2 para penalizar los coeficientes grandes y evitar modelos demasiado complejos.</a:t>
            </a:r>
          </a:p>
          <a:p>
            <a:pPr algn="l">
              <a:buFont typeface="+mj-lt"/>
              <a:buAutoNum type="arabicPeriod"/>
            </a:pPr>
            <a:r>
              <a:rPr lang="es-ES" sz="34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Modelo Mas sencillo:</a:t>
            </a:r>
            <a:endPar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Reduce la complejidad del modelo eliminando características irrelevantes o utilizando modelos más simples.</a:t>
            </a:r>
          </a:p>
          <a:p>
            <a:pPr algn="l">
              <a:buFont typeface="+mj-lt"/>
              <a:buAutoNum type="arabicPeriod"/>
            </a:pPr>
            <a:r>
              <a:rPr lang="es-ES" sz="34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Más Datos de Entrenamiento:</a:t>
            </a:r>
            <a:endPar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34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Aumenta la cantidad de datos de entrenamiento para proporcionar al modelo una visión más completa del espacio de características.</a:t>
            </a:r>
          </a:p>
          <a:p>
            <a:endParaRPr lang="es-MX" dirty="0"/>
          </a:p>
        </p:txBody>
      </p:sp>
      <p:sp>
        <p:nvSpPr>
          <p:cNvPr id="5" name="CuadroTexto 4">
            <a:extLst>
              <a:ext uri="{FF2B5EF4-FFF2-40B4-BE49-F238E27FC236}">
                <a16:creationId xmlns:a16="http://schemas.microsoft.com/office/drawing/2014/main" id="{D0CF2C07-874B-FB70-C90C-C61840EDC48C}"/>
              </a:ext>
            </a:extLst>
          </p:cNvPr>
          <p:cNvSpPr txBox="1"/>
          <p:nvPr/>
        </p:nvSpPr>
        <p:spPr>
          <a:xfrm>
            <a:off x="4932040" y="1606663"/>
            <a:ext cx="3959055" cy="5232202"/>
          </a:xfrm>
          <a:prstGeom prst="rect">
            <a:avLst/>
          </a:prstGeom>
          <a:noFill/>
        </p:spPr>
        <p:txBody>
          <a:bodyPr wrap="square" rtlCol="0">
            <a:spAutoFit/>
          </a:bodyPr>
          <a:lstStyle/>
          <a:p>
            <a:pPr algn="l"/>
            <a:r>
              <a:rPr lang="es-ES" sz="1600" b="1" i="0" dirty="0" err="1">
                <a:effectLst/>
                <a:latin typeface="Calibri" panose="020F0502020204030204" pitchFamily="34" charset="0"/>
                <a:ea typeface="Calibri" panose="020F0502020204030204" pitchFamily="34" charset="0"/>
                <a:cs typeface="Calibri" panose="020F0502020204030204" pitchFamily="34" charset="0"/>
              </a:rPr>
              <a:t>Subajuste</a:t>
            </a:r>
            <a:r>
              <a:rPr lang="es-ES" sz="1600" b="1" i="0" dirty="0">
                <a:effectLst/>
                <a:latin typeface="Calibri" panose="020F0502020204030204" pitchFamily="34" charset="0"/>
                <a:ea typeface="Calibri" panose="020F0502020204030204" pitchFamily="34" charset="0"/>
                <a:cs typeface="Calibri" panose="020F0502020204030204" pitchFamily="34" charset="0"/>
              </a:rPr>
              <a:t> (</a:t>
            </a:r>
            <a:r>
              <a:rPr lang="es-ES" sz="1600" b="1" i="0" dirty="0" err="1">
                <a:effectLst/>
                <a:latin typeface="Calibri" panose="020F0502020204030204" pitchFamily="34" charset="0"/>
                <a:ea typeface="Calibri" panose="020F0502020204030204" pitchFamily="34" charset="0"/>
                <a:cs typeface="Calibri" panose="020F0502020204030204" pitchFamily="34" charset="0"/>
              </a:rPr>
              <a:t>Underfitting</a:t>
            </a:r>
            <a:r>
              <a:rPr lang="es-ES" sz="1600" b="1"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mj-lt"/>
              <a:buAutoNum type="arabicPeriod"/>
            </a:pPr>
            <a:r>
              <a:rPr lang="es-ES" sz="16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Modelo más Complejo:</a:t>
            </a:r>
            <a:endPar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Aumenta la complejidad del modelo.</a:t>
            </a:r>
          </a:p>
          <a:p>
            <a:pPr algn="l">
              <a:buFont typeface="+mj-lt"/>
              <a:buAutoNum type="arabicPeriod"/>
            </a:pPr>
            <a:r>
              <a:rPr lang="es-ES" sz="16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Más Variables:</a:t>
            </a:r>
            <a:endPar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Asegúrate de que tu conjunto de datos incluya Variables relevantes para el problema.</a:t>
            </a:r>
          </a:p>
          <a:p>
            <a:pPr algn="l">
              <a:buFont typeface="+mj-lt"/>
              <a:buAutoNum type="arabicPeriod"/>
            </a:pPr>
            <a:r>
              <a:rPr lang="es-ES" sz="16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Ajuste de </a:t>
            </a:r>
            <a:r>
              <a:rPr lang="es-ES" sz="1600" b="1"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Hiperparámetros</a:t>
            </a:r>
            <a:r>
              <a:rPr lang="es-ES" sz="16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t>
            </a:r>
            <a:endPar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Ajusta los </a:t>
            </a:r>
            <a:r>
              <a:rPr lang="es-ES" sz="1600" b="0"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hiperparámetros</a:t>
            </a:r>
            <a:r>
              <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del modelo, como la tasa de aprendizaje, el número de capas ocultas, etc., para mejorar el rendimiento del modelo.</a:t>
            </a:r>
          </a:p>
          <a:p>
            <a:pPr algn="l">
              <a:buFont typeface="+mj-lt"/>
              <a:buAutoNum type="arabicPeriod"/>
            </a:pPr>
            <a:r>
              <a:rPr lang="es-ES" sz="16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Ensemble </a:t>
            </a:r>
            <a:r>
              <a:rPr lang="es-ES" sz="1600" b="1"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Learning</a:t>
            </a:r>
            <a:r>
              <a:rPr lang="es-ES" sz="1600" b="1"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a:t>
            </a:r>
            <a:endPar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mj-lt"/>
              <a:buAutoNum type="arabicPeriod"/>
            </a:pPr>
            <a:r>
              <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Considera el uso de métodos de conjunto (ensemble </a:t>
            </a:r>
            <a:r>
              <a:rPr lang="es-ES" sz="1600" b="0" i="0" dirty="0" err="1">
                <a:solidFill>
                  <a:srgbClr val="374151"/>
                </a:solidFill>
                <a:effectLst/>
                <a:latin typeface="Calibri" panose="020F0502020204030204" pitchFamily="34" charset="0"/>
                <a:ea typeface="Calibri" panose="020F0502020204030204" pitchFamily="34" charset="0"/>
                <a:cs typeface="Calibri" panose="020F0502020204030204" pitchFamily="34" charset="0"/>
              </a:rPr>
              <a:t>learning</a:t>
            </a:r>
            <a:r>
              <a:rPr lang="es-ES" sz="1600" b="0" i="0"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 para combinar varios modelos más simples y mejorar el rendimiento general.</a:t>
            </a:r>
          </a:p>
          <a:p>
            <a:endParaRPr lang="es-MX" dirty="0"/>
          </a:p>
        </p:txBody>
      </p:sp>
    </p:spTree>
    <p:extLst>
      <p:ext uri="{BB962C8B-B14F-4D97-AF65-F5344CB8AC3E}">
        <p14:creationId xmlns:p14="http://schemas.microsoft.com/office/powerpoint/2010/main" val="3943253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51C8-FF63-56A2-A727-071F91027133}"/>
              </a:ext>
            </a:extLst>
          </p:cNvPr>
          <p:cNvSpPr>
            <a:spLocks noGrp="1"/>
          </p:cNvSpPr>
          <p:nvPr>
            <p:ph type="title"/>
          </p:nvPr>
        </p:nvSpPr>
        <p:spPr/>
        <p:txBody>
          <a:bodyPr/>
          <a:lstStyle/>
          <a:p>
            <a:r>
              <a:rPr lang="es-MX" dirty="0"/>
              <a:t>TRADE OFF VARIANZA SESGO</a:t>
            </a:r>
          </a:p>
        </p:txBody>
      </p:sp>
      <p:sp>
        <p:nvSpPr>
          <p:cNvPr id="3" name="Marcador de contenido 2">
            <a:extLst>
              <a:ext uri="{FF2B5EF4-FFF2-40B4-BE49-F238E27FC236}">
                <a16:creationId xmlns:a16="http://schemas.microsoft.com/office/drawing/2014/main" id="{BB81842B-AF9F-81F7-92F1-2CFD9572C808}"/>
              </a:ext>
            </a:extLst>
          </p:cNvPr>
          <p:cNvSpPr>
            <a:spLocks noGrp="1"/>
          </p:cNvSpPr>
          <p:nvPr>
            <p:ph idx="1"/>
          </p:nvPr>
        </p:nvSpPr>
        <p:spPr/>
        <p:txBody>
          <a:bodyPr/>
          <a:lstStyle/>
          <a:p>
            <a:r>
              <a:rPr lang="es-MX" dirty="0"/>
              <a:t>Consultar </a:t>
            </a:r>
            <a:r>
              <a:rPr lang="es-MX"/>
              <a:t>Notebook TRADE OF VARIANZA SESGO</a:t>
            </a:r>
            <a:endParaRPr lang="es-MX" dirty="0"/>
          </a:p>
        </p:txBody>
      </p:sp>
    </p:spTree>
    <p:extLst>
      <p:ext uri="{BB962C8B-B14F-4D97-AF65-F5344CB8AC3E}">
        <p14:creationId xmlns:p14="http://schemas.microsoft.com/office/powerpoint/2010/main" val="2140543303"/>
      </p:ext>
    </p:extLst>
  </p:cSld>
  <p:clrMapOvr>
    <a:masterClrMapping/>
  </p:clrMapOvr>
</p:sld>
</file>

<file path=ppt/theme/theme1.xml><?xml version="1.0" encoding="utf-8"?>
<a:theme xmlns:a="http://schemas.openxmlformats.org/drawingml/2006/main" name="1_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6198</TotalTime>
  <Words>1854</Words>
  <Application>Microsoft Office PowerPoint</Application>
  <PresentationFormat>Presentación en pantalla (4:3)</PresentationFormat>
  <Paragraphs>114</Paragraphs>
  <Slides>27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Helvetica Neue</vt:lpstr>
      <vt:lpstr>Verdana</vt:lpstr>
      <vt:lpstr>1_Diseño predeterminado</vt:lpstr>
      <vt:lpstr>Presentación de PowerPoint</vt:lpstr>
      <vt:lpstr>¿Qué es la inteligencia artificial?</vt:lpstr>
      <vt:lpstr>Algunos Subconjuntos de la inteligencia Artificial.</vt:lpstr>
      <vt:lpstr>¿Qué es el aprendizaje de maquina (ML)?</vt:lpstr>
      <vt:lpstr>Aplicaciones de Machine Learning</vt:lpstr>
      <vt:lpstr>Aprendizaje de Maquina o Inteligencia Artificial?</vt:lpstr>
      <vt:lpstr>¿Cual es la diferencia entre programación clásica y Machine Learning?</vt:lpstr>
      <vt:lpstr>Ejemplos de Problemas donde podemos usar ML</vt:lpstr>
      <vt:lpstr>Ejemplos de Problemas donde podemos usar ML</vt:lpstr>
      <vt:lpstr>Ejemplos de Problemas que no necesitan ML</vt:lpstr>
      <vt:lpstr>TIPOS DE APRENDIZAJE EN ML</vt:lpstr>
      <vt:lpstr>APRENDIZAJE SUPERVISADO</vt:lpstr>
      <vt:lpstr>Aplicaciones de Aprendizaje supervisado.</vt:lpstr>
      <vt:lpstr>¿Qué es la clasificación?</vt:lpstr>
      <vt:lpstr>¿Qué es la regresión?</vt:lpstr>
      <vt:lpstr>APRENDIZAJE NO SUPERVISADO</vt:lpstr>
      <vt:lpstr>¿Qué es la Agrupación?</vt:lpstr>
      <vt:lpstr>Presentación de PowerPoint</vt:lpstr>
      <vt:lpstr>Comparación de tipos de Aprendizaje</vt:lpstr>
      <vt:lpstr>TIPOS DE APRENDIZAJE (PROBABILIDAD CONDICIONAL)</vt:lpstr>
      <vt:lpstr>Otros tipos de Aprendizaje</vt:lpstr>
      <vt:lpstr>Otros tipos de Aprendizaje</vt:lpstr>
      <vt:lpstr>Regresión lineal simple</vt:lpstr>
      <vt:lpstr>Conjuntos de entrenamiento y prueba</vt:lpstr>
      <vt:lpstr>Overfitting y Underfitting</vt:lpstr>
      <vt:lpstr>Cómo solucionar el overfitting y underfitting</vt:lpstr>
      <vt:lpstr>TRADE OFF VARIANZA SESGO</vt:lpstr>
    </vt:vector>
  </TitlesOfParts>
  <Company>I.T.A.M.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VRODILESF</dc:creator>
  <cp:lastModifiedBy>Sergio Alejandro Chavez Molotla</cp:lastModifiedBy>
  <cp:revision>32</cp:revision>
  <dcterms:created xsi:type="dcterms:W3CDTF">2009-09-24T21:57:42Z</dcterms:created>
  <dcterms:modified xsi:type="dcterms:W3CDTF">2025-10-21T01:45:25Z</dcterms:modified>
</cp:coreProperties>
</file>